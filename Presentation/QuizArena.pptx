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51" r:id="rId4"/>
  </p:sldMasterIdLst>
  <p:notesMasterIdLst>
    <p:notesMasterId r:id="rId16"/>
  </p:notesMasterIdLst>
  <p:sldIdLst>
    <p:sldId id="256" r:id="rId5"/>
    <p:sldId id="257" r:id="rId6"/>
    <p:sldId id="258" r:id="rId7"/>
    <p:sldId id="265" r:id="rId8"/>
    <p:sldId id="268" r:id="rId9"/>
    <p:sldId id="260" r:id="rId10"/>
    <p:sldId id="261" r:id="rId11"/>
    <p:sldId id="262" r:id="rId12"/>
    <p:sldId id="269" r:id="rId13"/>
    <p:sldId id="270" r:id="rId14"/>
    <p:sldId id="27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5D0BA"/>
    <a:srgbClr val="0B10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210457-1925-4281-909F-6789583A85A9}" v="742" dt="2026-08-04T13:32:19.265"/>
    <p1510:client id="{9AE9C948-4F06-F7BB-DA14-D5F60BF6F3C8}" v="897" dt="2026-08-04T12:59:22.7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85EC4-34A2-4481-B882-DCBB7B1C39E1}" type="datetimeFigureOut">
              <a:rPr lang="LID4096" smtClean="0"/>
              <a:t>08/07/2026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626563-A6A8-4E71-9ACC-61A88EB4449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79913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visual reference: ChatGPT Image Aug 1, 2026, 03_36_43 PM (2)(1).png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268542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55753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951274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759311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267119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825373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418835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937840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404826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306984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79674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3369685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5218572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4951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452" r:id="rId1"/>
    <p:sldLayoutId id="2147484453" r:id="rId2"/>
    <p:sldLayoutId id="2147484454" r:id="rId3"/>
    <p:sldLayoutId id="2147484455" r:id="rId4"/>
    <p:sldLayoutId id="2147484456" r:id="rId5"/>
    <p:sldLayoutId id="2147484457" r:id="rId6"/>
    <p:sldLayoutId id="2147484458" r:id="rId7"/>
    <p:sldLayoutId id="2147484459" r:id="rId8"/>
    <p:sldLayoutId id="2147484460" r:id="rId9"/>
    <p:sldLayoutId id="2147484461" r:id="rId10"/>
    <p:sldLayoutId id="2147484462" r:id="rId11"/>
    <p:sldLayoutId id="2147484463" r:id="rId12"/>
    <p:sldLayoutId id="2147484464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github.com/xGota7/Oop-Final-Project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Michael\Desktop\Semester%208\Oop\Oop-Final-Project\Presentation\StartQuiz.bat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5D0BA"/>
          </a:solidFill>
          <a:ln w="12700">
            <a:solidFill>
              <a:srgbClr val="35D0B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FB86B"/>
          </a:solidFill>
          <a:ln w="12700">
            <a:solidFill>
              <a:srgbClr val="FFB86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7F8FB"/>
                </a:solidFill>
                <a:ea typeface="Aptos Display" pitchFamily="34" charset="-122"/>
                <a:cs typeface="Aptos Display" pitchFamily="34" charset="-120"/>
              </a:rPr>
              <a:t>Quiz Arena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13232" y="1417320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B9C4D1"/>
                </a:solidFill>
              </a:rPr>
              <a:t>Terminal</a:t>
            </a:r>
            <a:r>
              <a:rPr lang="he-IL" sz="1700" dirty="0">
                <a:solidFill>
                  <a:srgbClr val="B9C4D1"/>
                </a:solidFill>
              </a:rPr>
              <a:t> </a:t>
            </a:r>
            <a:r>
              <a:rPr lang="en-US" sz="1700" dirty="0">
                <a:solidFill>
                  <a:srgbClr val="B9C4D1"/>
                </a:solidFill>
              </a:rPr>
              <a:t>based C++ OOP final project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86B"/>
                </a:solidFill>
              </a:rPr>
              <a:t>Course 31695 — Object Oriented Programming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462780" y="1339596"/>
            <a:ext cx="2595880" cy="1316736"/>
          </a:xfrm>
          <a:prstGeom prst="roundRect">
            <a:avLst>
              <a:gd name="adj" fmla="val 1404"/>
            </a:avLst>
          </a:prstGeom>
          <a:solidFill>
            <a:srgbClr val="0A0F1A"/>
          </a:solidFill>
          <a:ln w="12700">
            <a:solidFill>
              <a:srgbClr val="41516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7F8FB"/>
                </a:solidFill>
                <a:ea typeface="Cascadia Mono" pitchFamily="34" charset="-122"/>
                <a:cs typeface="Cascadia Mono" pitchFamily="34" charset="-120"/>
              </a:rPr>
              <a:t>&gt; run.bat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7F8FB"/>
                </a:solidFill>
                <a:ea typeface="Cascadia Mono" pitchFamily="34" charset="-122"/>
                <a:cs typeface="Cascadia Mono" pitchFamily="34" charset="-120"/>
              </a:rPr>
              <a:t>Welcome to Quiz Arena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7F8FB"/>
                </a:solidFill>
                <a:ea typeface="Cascadia Mono" pitchFamily="34" charset="-122"/>
                <a:cs typeface="Cascadia Mono" pitchFamily="34" charset="-120"/>
              </a:rPr>
              <a:t>1. New Game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7F8FB"/>
                </a:solidFill>
                <a:ea typeface="Cascadia Mono" pitchFamily="34" charset="-122"/>
                <a:cs typeface="Cascadia Mono" pitchFamily="34" charset="-120"/>
              </a:rPr>
              <a:t>2. Saved Games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7F8FB"/>
                </a:solidFill>
                <a:ea typeface="Cascadia Mono" pitchFamily="34" charset="-122"/>
                <a:cs typeface="Cascadia Mono" pitchFamily="34" charset="-120"/>
              </a:rPr>
              <a:t>3. Leaderboard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7F8FB"/>
                </a:solidFill>
                <a:ea typeface="Cascadia Mono" pitchFamily="34" charset="-122"/>
                <a:cs typeface="Cascadia Mono" pitchFamily="34" charset="-120"/>
              </a:rPr>
              <a:t>4. Quit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388620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1F2E44"/>
          </a:solidFill>
          <a:ln w="15240">
            <a:solidFill>
              <a:srgbClr val="35D0B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7F8FB"/>
                </a:solidFill>
              </a:rPr>
              <a:t>C++ classes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7F8FB"/>
                </a:solidFill>
              </a:rPr>
              <a:t>+ text files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7F8FB"/>
                </a:solidFill>
              </a:rPr>
              <a:t>+ terminal UI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337560" y="388620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1F2E44"/>
          </a:solidFill>
          <a:ln w="15240">
            <a:solidFill>
              <a:srgbClr val="7CA7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7F8FB"/>
                </a:solidFill>
              </a:rPr>
              <a:t>Polymorphic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7F8FB"/>
                </a:solidFill>
              </a:rPr>
              <a:t>questions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760720" y="388620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1F2E44"/>
          </a:solidFill>
          <a:ln w="15240">
            <a:solidFill>
              <a:srgbClr val="7BD88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7F8FB"/>
                </a:solidFill>
              </a:rPr>
              <a:t>Save / load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7F8FB"/>
                </a:solidFill>
              </a:rPr>
              <a:t>leaderboard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83880" y="388620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1F2E44"/>
          </a:solidFill>
          <a:ln w="15240">
            <a:solidFill>
              <a:srgbClr val="B28D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7F8FB"/>
                </a:solidFill>
              </a:rPr>
              <a:t>Cursor-assisted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7F8FB"/>
                </a:solidFill>
              </a:rPr>
              <a:t>workflow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326880" y="6437376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B9C4D1"/>
                </a:solidFill>
              </a:rPr>
              <a:t>Quiz Arena | OOP C++ Final Project | 1</a:t>
            </a:r>
            <a:endParaRPr lang="en-US" sz="7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FD2FAF0-F2B2-199A-126E-0B1368650B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427"/>
          <a:stretch>
            <a:fillRect/>
          </a:stretch>
        </p:blipFill>
        <p:spPr>
          <a:xfrm>
            <a:off x="7280600" y="1234440"/>
            <a:ext cx="4402130" cy="1463040"/>
          </a:xfrm>
          <a:prstGeom prst="rect">
            <a:avLst/>
          </a:prstGeom>
        </p:spPr>
      </p:pic>
      <p:sp>
        <p:nvSpPr>
          <p:cNvPr id="17" name="Text 3">
            <a:extLst>
              <a:ext uri="{FF2B5EF4-FFF2-40B4-BE49-F238E27FC236}">
                <a16:creationId xmlns:a16="http://schemas.microsoft.com/office/drawing/2014/main" id="{C74D7D4F-1357-41EF-9F51-E9925ADAD03B}"/>
              </a:ext>
            </a:extLst>
          </p:cNvPr>
          <p:cNvSpPr/>
          <p:nvPr/>
        </p:nvSpPr>
        <p:spPr>
          <a:xfrm>
            <a:off x="685800" y="2434590"/>
            <a:ext cx="247015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Link</a:t>
            </a:r>
            <a:endParaRPr lang="en-US" sz="28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5D0BA"/>
          </a:solidFill>
          <a:ln w="12700">
            <a:solidFill>
              <a:srgbClr val="35D0B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FB86B"/>
          </a:solidFill>
          <a:ln w="12700">
            <a:solidFill>
              <a:srgbClr val="FFB86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566928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7F8FB"/>
                </a:solidFill>
                <a:ea typeface="Aptos Display" pitchFamily="34" charset="-122"/>
                <a:cs typeface="Aptos Display" pitchFamily="34" charset="-120"/>
              </a:rPr>
              <a:t>Game overview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9C4D1"/>
                </a:solidFill>
              </a:rPr>
              <a:t>A simple math quiz game with difficulty modes, lives, saving, and a leaderboard.</a:t>
            </a:r>
            <a:endParaRPr lang="en-US" sz="1400" b="1" dirty="0"/>
          </a:p>
        </p:txBody>
      </p:sp>
      <p:sp>
        <p:nvSpPr>
          <p:cNvPr id="6" name="Shape 4"/>
          <p:cNvSpPr/>
          <p:nvPr/>
        </p:nvSpPr>
        <p:spPr>
          <a:xfrm>
            <a:off x="1965960" y="2834640"/>
            <a:ext cx="822960" cy="0"/>
          </a:xfrm>
          <a:prstGeom prst="line">
            <a:avLst/>
          </a:prstGeom>
          <a:solidFill>
            <a:srgbClr val="0B1020">
              <a:alpha val="0"/>
            </a:srgbClr>
          </a:solidFill>
          <a:ln w="19050">
            <a:solidFill>
              <a:srgbClr val="35D0B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LID4096"/>
          </a:p>
        </p:txBody>
      </p:sp>
      <p:sp>
        <p:nvSpPr>
          <p:cNvPr id="7" name="Shape 5"/>
          <p:cNvSpPr/>
          <p:nvPr/>
        </p:nvSpPr>
        <p:spPr>
          <a:xfrm>
            <a:off x="4160520" y="2834640"/>
            <a:ext cx="822960" cy="0"/>
          </a:xfrm>
          <a:prstGeom prst="line">
            <a:avLst/>
          </a:prstGeom>
          <a:solidFill>
            <a:srgbClr val="0B1020">
              <a:alpha val="0"/>
            </a:srgbClr>
          </a:solidFill>
          <a:ln w="19050">
            <a:solidFill>
              <a:srgbClr val="35D0B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LID4096"/>
          </a:p>
        </p:txBody>
      </p:sp>
      <p:sp>
        <p:nvSpPr>
          <p:cNvPr id="8" name="Shape 6"/>
          <p:cNvSpPr/>
          <p:nvPr/>
        </p:nvSpPr>
        <p:spPr>
          <a:xfrm>
            <a:off x="6355080" y="2834640"/>
            <a:ext cx="822960" cy="0"/>
          </a:xfrm>
          <a:prstGeom prst="line">
            <a:avLst/>
          </a:prstGeom>
          <a:solidFill>
            <a:srgbClr val="0B1020">
              <a:alpha val="0"/>
            </a:srgbClr>
          </a:solidFill>
          <a:ln w="19050">
            <a:solidFill>
              <a:srgbClr val="35D0B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LID4096"/>
          </a:p>
        </p:txBody>
      </p:sp>
      <p:sp>
        <p:nvSpPr>
          <p:cNvPr id="9" name="Shape 7"/>
          <p:cNvSpPr/>
          <p:nvPr/>
        </p:nvSpPr>
        <p:spPr>
          <a:xfrm>
            <a:off x="8549640" y="2834640"/>
            <a:ext cx="822960" cy="0"/>
          </a:xfrm>
          <a:prstGeom prst="line">
            <a:avLst/>
          </a:prstGeom>
          <a:solidFill>
            <a:srgbClr val="0B1020">
              <a:alpha val="0"/>
            </a:srgbClr>
          </a:solidFill>
          <a:ln w="19050">
            <a:solidFill>
              <a:srgbClr val="35D0B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777240" y="2286000"/>
            <a:ext cx="1188720" cy="1097280"/>
          </a:xfrm>
          <a:prstGeom prst="roundRect">
            <a:avLst>
              <a:gd name="adj" fmla="val 6667"/>
            </a:avLst>
          </a:prstGeom>
          <a:solidFill>
            <a:srgbClr val="182337"/>
          </a:solidFill>
          <a:ln w="15240">
            <a:solidFill>
              <a:srgbClr val="35D0B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7F8FB"/>
                </a:solidFill>
              </a:rPr>
              <a:t>Main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7F8FB"/>
                </a:solidFill>
              </a:rPr>
              <a:t>menu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788920" y="2286000"/>
            <a:ext cx="1371600" cy="1097280"/>
          </a:xfrm>
          <a:prstGeom prst="roundRect">
            <a:avLst>
              <a:gd name="adj" fmla="val 6667"/>
            </a:avLst>
          </a:prstGeom>
          <a:solidFill>
            <a:srgbClr val="182337"/>
          </a:solidFill>
          <a:ln w="15240">
            <a:solidFill>
              <a:srgbClr val="35D0B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7F8FB"/>
                </a:solidFill>
              </a:rPr>
              <a:t>Choose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7F8FB"/>
                </a:solidFill>
              </a:rPr>
              <a:t>difficulty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83480" y="2286000"/>
            <a:ext cx="1371600" cy="1097280"/>
          </a:xfrm>
          <a:prstGeom prst="roundRect">
            <a:avLst>
              <a:gd name="adj" fmla="val 6667"/>
            </a:avLst>
          </a:prstGeom>
          <a:solidFill>
            <a:srgbClr val="182337"/>
          </a:solidFill>
          <a:ln w="15240">
            <a:solidFill>
              <a:srgbClr val="35D0B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7F8FB"/>
                </a:solidFill>
              </a:rPr>
              <a:t>Load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7F8FB"/>
                </a:solidFill>
              </a:rPr>
              <a:t>questions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78040" y="2286000"/>
            <a:ext cx="1371600" cy="1097280"/>
          </a:xfrm>
          <a:prstGeom prst="roundRect">
            <a:avLst>
              <a:gd name="adj" fmla="val 6667"/>
            </a:avLst>
          </a:prstGeom>
          <a:solidFill>
            <a:srgbClr val="182337"/>
          </a:solidFill>
          <a:ln w="15240">
            <a:solidFill>
              <a:srgbClr val="35D0B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7F8FB"/>
                </a:solidFill>
              </a:rPr>
              <a:t>Answer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7F8FB"/>
                </a:solidFill>
              </a:rPr>
              <a:t>questions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372600" y="2286000"/>
            <a:ext cx="1371600" cy="1097280"/>
          </a:xfrm>
          <a:prstGeom prst="roundRect">
            <a:avLst>
              <a:gd name="adj" fmla="val 6667"/>
            </a:avLst>
          </a:prstGeom>
          <a:solidFill>
            <a:srgbClr val="182337"/>
          </a:solidFill>
          <a:ln w="15240">
            <a:solidFill>
              <a:srgbClr val="35D0B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7F8FB"/>
                </a:solidFill>
              </a:rPr>
              <a:t>Save or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7F8FB"/>
                </a:solidFill>
              </a:rPr>
              <a:t>finish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4069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7F8FB"/>
                </a:solidFill>
              </a:rPr>
              <a:t>How it works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51560" y="44988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5D0BA"/>
                </a:solidFill>
              </a:rPr>
              <a:t>• </a:t>
            </a:r>
            <a:r>
              <a:rPr lang="en-US" sz="1400" dirty="0">
                <a:solidFill>
                  <a:srgbClr val="F7F8FB"/>
                </a:solidFill>
              </a:rPr>
              <a:t>Correct answer: +5 points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490118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5D0BA"/>
                </a:solidFill>
              </a:rPr>
              <a:t>• </a:t>
            </a:r>
            <a:r>
              <a:rPr lang="en-US" sz="1400" dirty="0">
                <a:solidFill>
                  <a:srgbClr val="F7F8FB"/>
                </a:solidFill>
              </a:rPr>
              <a:t>Wrong answer: lose one life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5303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5D0BA"/>
                </a:solidFill>
              </a:rPr>
              <a:t>• </a:t>
            </a:r>
            <a:r>
              <a:rPr lang="en-US" sz="1400" dirty="0">
                <a:solidFill>
                  <a:srgbClr val="F7F8FB"/>
                </a:solidFill>
              </a:rPr>
              <a:t>Press 0 during a question to save and return to the menu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75120" y="4343400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B9C4D1"/>
                </a:solidFill>
              </a:rPr>
              <a:t>Game data comes from text files, so the same engine can load Easy, Normal, or Hard question sets.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326880" y="6437376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B9C4D1"/>
                </a:solidFill>
              </a:rPr>
              <a:t>Quiz Arena | OOP C++ Final Project | 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5D0BA"/>
          </a:solidFill>
          <a:ln w="12700">
            <a:solidFill>
              <a:srgbClr val="35D0B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FB86B"/>
          </a:solidFill>
          <a:ln w="12700">
            <a:solidFill>
              <a:srgbClr val="FFB86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566928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7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Win / lose conditions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B9C4D1"/>
                </a:solidFill>
              </a:rPr>
              <a:t>Each difficulty has its own starting lives and target score</a:t>
            </a:r>
            <a:r>
              <a:rPr lang="en-US" sz="950" dirty="0">
                <a:solidFill>
                  <a:srgbClr val="B9C4D1"/>
                </a:solidFill>
              </a:rPr>
              <a:t>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51560" y="1920240"/>
            <a:ext cx="2468880" cy="1508760"/>
          </a:xfrm>
          <a:prstGeom prst="roundRect">
            <a:avLst>
              <a:gd name="adj" fmla="val 4848"/>
            </a:avLst>
          </a:prstGeom>
          <a:solidFill>
            <a:srgbClr val="1F2E44"/>
          </a:solidFill>
          <a:ln w="15240">
            <a:solidFill>
              <a:srgbClr val="7BD88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7F8FB"/>
                </a:solidFill>
              </a:rPr>
              <a:t>Easy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7F8FB"/>
                </a:solidFill>
              </a:rPr>
              <a:t>5 lives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7F8FB"/>
                </a:solidFill>
              </a:rPr>
              <a:t>Target: 85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800600" y="1920240"/>
            <a:ext cx="2468880" cy="1508760"/>
          </a:xfrm>
          <a:prstGeom prst="roundRect">
            <a:avLst>
              <a:gd name="adj" fmla="val 4848"/>
            </a:avLst>
          </a:prstGeom>
          <a:solidFill>
            <a:srgbClr val="1F2E44"/>
          </a:solidFill>
          <a:ln w="15240">
            <a:solidFill>
              <a:srgbClr val="7CA7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7F8FB"/>
                </a:solidFill>
              </a:rPr>
              <a:t>Normal</a:t>
            </a:r>
            <a:endParaRPr lang="en-US" sz="1800" dirty="0"/>
          </a:p>
          <a:p>
            <a:pPr marL="0" indent="0" algn="ctr">
              <a:buNone/>
            </a:pPr>
            <a:r>
              <a:rPr lang="he-IL" sz="1800" b="1" dirty="0">
                <a:solidFill>
                  <a:srgbClr val="F7F8FB"/>
                </a:solidFill>
              </a:rPr>
              <a:t>4</a:t>
            </a:r>
            <a:r>
              <a:rPr lang="en-US" sz="1800" b="1" dirty="0">
                <a:solidFill>
                  <a:srgbClr val="F7F8FB"/>
                </a:solidFill>
              </a:rPr>
              <a:t> lives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7F8FB"/>
                </a:solidFill>
              </a:rPr>
              <a:t>Target: 90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549640" y="1920240"/>
            <a:ext cx="2468880" cy="1508760"/>
          </a:xfrm>
          <a:prstGeom prst="roundRect">
            <a:avLst>
              <a:gd name="adj" fmla="val 4848"/>
            </a:avLst>
          </a:prstGeom>
          <a:solidFill>
            <a:srgbClr val="1F2E44"/>
          </a:solidFill>
          <a:ln w="15240">
            <a:solidFill>
              <a:srgbClr val="FF6B6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7F8FB"/>
                </a:solidFill>
              </a:rPr>
              <a:t>Hard</a:t>
            </a:r>
            <a:endParaRPr lang="en-US" sz="1800" dirty="0"/>
          </a:p>
          <a:p>
            <a:pPr marL="0" indent="0" algn="ctr">
              <a:buNone/>
            </a:pPr>
            <a:r>
              <a:rPr lang="he-IL" sz="1800" b="1" dirty="0">
                <a:solidFill>
                  <a:srgbClr val="F7F8FB"/>
                </a:solidFill>
              </a:rPr>
              <a:t>3</a:t>
            </a:r>
            <a:r>
              <a:rPr lang="en-US" sz="1800" b="1" dirty="0">
                <a:solidFill>
                  <a:srgbClr val="F7F8FB"/>
                </a:solidFill>
              </a:rPr>
              <a:t> lives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7F8FB"/>
                </a:solidFill>
              </a:rPr>
              <a:t>Target: 95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51560" y="3723347"/>
            <a:ext cx="9966960" cy="1"/>
          </a:xfrm>
          <a:prstGeom prst="line">
            <a:avLst/>
          </a:prstGeom>
          <a:solidFill>
            <a:srgbClr val="0B1020">
              <a:alpha val="0"/>
            </a:srgbClr>
          </a:solidFill>
          <a:ln w="17780">
            <a:solidFill>
              <a:srgbClr val="41516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453390" y="4567174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102E2A"/>
          </a:solidFill>
          <a:ln w="15240">
            <a:solidFill>
              <a:srgbClr val="7BD88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7F8FB"/>
                </a:solidFill>
              </a:rPr>
              <a:t>WIN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3145383" y="4794316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7F8FB"/>
                </a:solidFill>
              </a:rPr>
              <a:t>Player is still alive and reaches the target score.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3390" y="5522976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351A25"/>
          </a:solidFill>
          <a:ln w="15240">
            <a:solidFill>
              <a:srgbClr val="FF6B6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7F8FB"/>
                </a:solidFill>
              </a:rPr>
              <a:t>LOSE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3145536" y="5774436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7F8FB"/>
                </a:solidFill>
              </a:rPr>
              <a:t>Lives reach 0 before the target score is reached.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93020" y="6509657"/>
            <a:ext cx="1651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B9C4D1"/>
                </a:solidFill>
              </a:rPr>
              <a:t>Quiz Arena | OOP C++ Final Project | 3</a:t>
            </a:r>
            <a:endParaRPr lang="en-US" sz="7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9898F77-6193-5164-0041-F079F2CF63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5323" y="5414989"/>
            <a:ext cx="4636657" cy="103893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754A33F-1325-D125-EFDF-4F2C616B23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5323" y="4082796"/>
            <a:ext cx="4735068" cy="11818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order-2">
            <a:extLst>
              <a:ext uri="{FF2B5EF4-FFF2-40B4-BE49-F238E27FC236}">
                <a16:creationId xmlns:a16="http://schemas.microsoft.com/office/drawing/2014/main" id="{D87AF41F-587A-49E5-A147-DB84BA55D9DD}"/>
              </a:ext>
            </a:extLst>
          </p:cNvPr>
          <p:cNvSpPr>
            <a:spLocks noGrp="1"/>
          </p:cNvSpPr>
          <p:nvPr/>
        </p:nvSpPr>
        <p:spPr>
          <a:xfrm>
            <a:off x="7620" y="7620"/>
            <a:ext cx="12176760" cy="6842760"/>
          </a:xfrm>
          <a:prstGeom prst="roundRect">
            <a:avLst>
              <a:gd name="adj" fmla="val 1114"/>
            </a:avLst>
          </a:prstGeom>
          <a:noFill/>
          <a:ln w="12383">
            <a:solidFill>
              <a:srgbClr val="446254"/>
            </a:solidFill>
            <a:prstDash val="solid"/>
          </a:ln>
        </p:spPr>
        <p:txBody>
          <a:bodyPr/>
          <a:lstStyle/>
          <a:p>
            <a:endParaRPr lang="LID4096" sz="144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ABA17D-53DF-4608-84E0-8744FB7FED0A}"/>
              </a:ext>
            </a:extLst>
          </p:cNvPr>
          <p:cNvSpPr>
            <a:spLocks noGrp="1"/>
          </p:cNvSpPr>
          <p:nvPr/>
        </p:nvSpPr>
        <p:spPr>
          <a:xfrm>
            <a:off x="411480" y="182880"/>
            <a:ext cx="11201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4275" b="1" i="0">
                <a:solidFill>
                  <a:srgbClr val="082B55"/>
                </a:solidFill>
                <a:latin typeface="Arial"/>
                <a:ea typeface="Arial"/>
                <a:cs typeface="Arial"/>
              </a:defRPr>
            </a:pPr>
            <a:r>
              <a:rPr lang="en-US" sz="25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/>
                <a:ea typeface="Arial"/>
                <a:cs typeface="Arial"/>
              </a:rPr>
              <a:t>Quiz Arena — System Architecture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BD586F-C70D-4112-B7BC-30C406AE7FD3}"/>
              </a:ext>
            </a:extLst>
          </p:cNvPr>
          <p:cNvSpPr>
            <a:spLocks noGrp="1"/>
          </p:cNvSpPr>
          <p:nvPr/>
        </p:nvSpPr>
        <p:spPr>
          <a:xfrm>
            <a:off x="419100" y="716280"/>
            <a:ext cx="10668000" cy="2895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875" b="0" i="1">
                <a:solidFill>
                  <a:srgbClr val="344B70"/>
                </a:solidFill>
                <a:latin typeface="Arial"/>
                <a:ea typeface="Arial"/>
                <a:cs typeface="Arial"/>
              </a:defRPr>
            </a:pPr>
            <a:r>
              <a:rPr sz="1500" i="1">
                <a:solidFill>
                  <a:schemeClr val="accent1">
                    <a:lumMod val="20000"/>
                    <a:lumOff val="80000"/>
                  </a:schemeClr>
                </a:solidFill>
                <a:latin typeface="Arial"/>
                <a:ea typeface="Arial"/>
                <a:cs typeface="Arial"/>
              </a:rPr>
              <a:t>How the main classes connect</a:t>
            </a:r>
            <a:endParaRPr lang="he-IL" sz="1500" i="1">
              <a:solidFill>
                <a:schemeClr val="accent1">
                  <a:lumMod val="20000"/>
                  <a:lumOff val="8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57CF5D-A735-4BC0-8993-210C99B5F09B}"/>
              </a:ext>
            </a:extLst>
          </p:cNvPr>
          <p:cNvSpPr>
            <a:spLocks noGrp="1"/>
          </p:cNvSpPr>
          <p:nvPr/>
        </p:nvSpPr>
        <p:spPr>
          <a:xfrm>
            <a:off x="3534335" y="6435314"/>
            <a:ext cx="4953000" cy="2895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5720" tIns="30480" rIns="45720" bIns="1524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6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endParaRPr sz="132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E21DB7C-59CD-43B4-945A-9533C3900F25}"/>
              </a:ext>
            </a:extLst>
          </p:cNvPr>
          <p:cNvSpPr>
            <a:spLocks noGrp="1"/>
          </p:cNvSpPr>
          <p:nvPr/>
        </p:nvSpPr>
        <p:spPr>
          <a:xfrm>
            <a:off x="708660" y="1958340"/>
            <a:ext cx="2362200" cy="1729740"/>
          </a:xfrm>
          <a:prstGeom prst="roundRect">
            <a:avLst>
              <a:gd name="adj" fmla="val 5286"/>
            </a:avLst>
          </a:prstGeom>
          <a:solidFill>
            <a:srgbClr val="F1F8ED"/>
          </a:solidFill>
          <a:ln w="17145">
            <a:solidFill>
              <a:srgbClr val="2D6B2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 sz="144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777A6C-D247-42FD-ABCB-92DD8B736A27}"/>
              </a:ext>
            </a:extLst>
          </p:cNvPr>
          <p:cNvSpPr>
            <a:spLocks noGrp="1"/>
          </p:cNvSpPr>
          <p:nvPr/>
        </p:nvSpPr>
        <p:spPr>
          <a:xfrm>
            <a:off x="800100" y="2019300"/>
            <a:ext cx="217932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5720" tIns="30480" rIns="45720" bIns="1524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650" b="1" i="0">
                <a:solidFill>
                  <a:srgbClr val="2D6B25"/>
                </a:solidFill>
                <a:latin typeface="Arial"/>
                <a:ea typeface="Arial"/>
                <a:cs typeface="Arial"/>
              </a:defRPr>
            </a:pPr>
            <a:r>
              <a:rPr sz="1320" b="1">
                <a:solidFill>
                  <a:srgbClr val="2D6B25"/>
                </a:solidFill>
                <a:latin typeface="Arial"/>
                <a:ea typeface="Arial"/>
                <a:cs typeface="Arial"/>
              </a:rPr>
              <a:t>«abstract»</a:t>
            </a:r>
          </a:p>
          <a:p>
            <a:pPr algn="ctr">
              <a:lnSpc>
                <a:spcPct val="100000"/>
              </a:lnSpc>
              <a:buNone/>
              <a:defRPr sz="1650" b="1" i="0">
                <a:solidFill>
                  <a:srgbClr val="2D6B25"/>
                </a:solidFill>
                <a:latin typeface="Arial"/>
                <a:ea typeface="Arial"/>
                <a:cs typeface="Arial"/>
              </a:defRPr>
            </a:pPr>
            <a:r>
              <a:rPr sz="1320" b="1">
                <a:solidFill>
                  <a:srgbClr val="2D6B25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F8CBE6C7-D1E0-4249-8FFA-596060EC8E49}"/>
              </a:ext>
            </a:extLst>
          </p:cNvPr>
          <p:cNvSpPr>
            <a:spLocks noGrp="1"/>
          </p:cNvSpPr>
          <p:nvPr/>
        </p:nvSpPr>
        <p:spPr>
          <a:xfrm>
            <a:off x="815340" y="2689860"/>
            <a:ext cx="2148840" cy="0"/>
          </a:xfrm>
          <a:prstGeom prst="line">
            <a:avLst/>
          </a:prstGeom>
          <a:noFill/>
          <a:ln w="13335">
            <a:solidFill>
              <a:srgbClr val="2D6B25"/>
            </a:solidFill>
            <a:prstDash val="solid"/>
          </a:ln>
        </p:spPr>
        <p:txBody>
          <a:bodyPr/>
          <a:lstStyle/>
          <a:p>
            <a:endParaRPr lang="LID4096" sz="144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30D34B0-2C98-44FF-8A39-B727BF8D2EEE}"/>
              </a:ext>
            </a:extLst>
          </p:cNvPr>
          <p:cNvSpPr>
            <a:spLocks noGrp="1"/>
          </p:cNvSpPr>
          <p:nvPr/>
        </p:nvSpPr>
        <p:spPr>
          <a:xfrm>
            <a:off x="815340" y="2750820"/>
            <a:ext cx="2148840" cy="8610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5240" tIns="15240" rIns="15240" bIns="15240" anchor="t">
            <a:normAutofit fontScale="99271"/>
          </a:bodyPr>
          <a:lstStyle/>
          <a:p>
            <a:pPr algn="l">
              <a:lnSpc>
                <a:spcPct val="102000"/>
              </a:lnSpc>
              <a:buNone/>
              <a:defRPr sz="11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161616"/>
                </a:solidFill>
                <a:latin typeface="Arial"/>
                <a:ea typeface="Arial"/>
                <a:cs typeface="Arial"/>
              </a:rPr>
              <a:t>m_text, m_points</a:t>
            </a:r>
          </a:p>
          <a:p>
            <a:endParaRPr sz="900">
              <a:solidFill>
                <a:srgbClr val="161616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1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161616"/>
                </a:solidFill>
                <a:latin typeface="Arial"/>
                <a:ea typeface="Arial"/>
                <a:cs typeface="Arial"/>
              </a:rPr>
              <a:t>virtual int getOptionCount() const</a:t>
            </a:r>
          </a:p>
          <a:p>
            <a:pPr algn="l">
              <a:lnSpc>
                <a:spcPct val="102000"/>
              </a:lnSpc>
              <a:buNone/>
              <a:defRPr sz="11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161616"/>
                </a:solidFill>
                <a:latin typeface="Arial"/>
                <a:ea typeface="Arial"/>
                <a:cs typeface="Arial"/>
              </a:rPr>
              <a:t>virtual string getOption(int i) const</a:t>
            </a:r>
          </a:p>
          <a:p>
            <a:pPr algn="l">
              <a:lnSpc>
                <a:spcPct val="102000"/>
              </a:lnSpc>
              <a:buNone/>
              <a:defRPr sz="11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161616"/>
                </a:solidFill>
                <a:latin typeface="Arial"/>
                <a:ea typeface="Arial"/>
                <a:cs typeface="Arial"/>
              </a:rPr>
              <a:t>virtual bool checkAnswer(int i) const</a:t>
            </a:r>
          </a:p>
          <a:p>
            <a:pPr algn="l">
              <a:lnSpc>
                <a:spcPct val="102000"/>
              </a:lnSpc>
              <a:buNone/>
              <a:defRPr sz="11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161616"/>
                </a:solidFill>
                <a:latin typeface="Arial"/>
                <a:ea typeface="Arial"/>
                <a:cs typeface="Arial"/>
              </a:rPr>
              <a:t>virtual Question* clone() const = 0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954A87F-7E93-48CC-9A8D-5E0828677A82}"/>
              </a:ext>
            </a:extLst>
          </p:cNvPr>
          <p:cNvSpPr>
            <a:spLocks noGrp="1"/>
          </p:cNvSpPr>
          <p:nvPr/>
        </p:nvSpPr>
        <p:spPr>
          <a:xfrm>
            <a:off x="91440" y="4297680"/>
            <a:ext cx="1798320" cy="960120"/>
          </a:xfrm>
          <a:prstGeom prst="roundRect">
            <a:avLst>
              <a:gd name="adj" fmla="val 9524"/>
            </a:avLst>
          </a:prstGeom>
          <a:solidFill>
            <a:srgbClr val="F1F8ED"/>
          </a:solidFill>
          <a:ln w="17145">
            <a:solidFill>
              <a:srgbClr val="2D6B2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 sz="144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4E1592-7394-481B-ADE9-C1138FD2BB82}"/>
              </a:ext>
            </a:extLst>
          </p:cNvPr>
          <p:cNvSpPr>
            <a:spLocks noGrp="1"/>
          </p:cNvSpPr>
          <p:nvPr/>
        </p:nvSpPr>
        <p:spPr>
          <a:xfrm>
            <a:off x="182880" y="4358640"/>
            <a:ext cx="170688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5720" tIns="30480" rIns="45720" bIns="15240" anchor="ctr">
            <a:normAutofit fontScale="91268"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2D6B25"/>
                </a:solidFill>
                <a:latin typeface="Arial"/>
                <a:ea typeface="Arial"/>
                <a:cs typeface="Arial"/>
              </a:defRPr>
            </a:pPr>
            <a:r>
              <a:rPr lang="he-IL" sz="1020" b="1">
                <a:solidFill>
                  <a:srgbClr val="2D6B25"/>
                </a:solidFill>
                <a:latin typeface="Arial"/>
                <a:ea typeface="Arial"/>
                <a:cs typeface="Arial"/>
              </a:rPr>
              <a:t> 🔢</a:t>
            </a:r>
            <a:r>
              <a:rPr sz="1020" b="1" err="1">
                <a:solidFill>
                  <a:srgbClr val="2D6B25"/>
                </a:solidFill>
                <a:latin typeface="Arial"/>
                <a:ea typeface="Arial"/>
                <a:cs typeface="Arial"/>
              </a:rPr>
              <a:t>MultipleChoiceQuestion</a:t>
            </a:r>
            <a:endParaRPr sz="1020" b="1">
              <a:solidFill>
                <a:srgbClr val="2D6B2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E5105841-CE71-475B-BAC7-02CEC108799F}"/>
              </a:ext>
            </a:extLst>
          </p:cNvPr>
          <p:cNvSpPr>
            <a:spLocks noGrp="1"/>
          </p:cNvSpPr>
          <p:nvPr/>
        </p:nvSpPr>
        <p:spPr>
          <a:xfrm>
            <a:off x="198120" y="4739640"/>
            <a:ext cx="1584960" cy="0"/>
          </a:xfrm>
          <a:prstGeom prst="line">
            <a:avLst/>
          </a:prstGeom>
          <a:noFill/>
          <a:ln w="13335">
            <a:solidFill>
              <a:srgbClr val="2D6B25"/>
            </a:solidFill>
            <a:prstDash val="solid"/>
          </a:ln>
        </p:spPr>
        <p:txBody>
          <a:bodyPr/>
          <a:lstStyle/>
          <a:p>
            <a:endParaRPr lang="LID4096" sz="144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426B13-DF2B-48B9-A5E5-534372DE0410}"/>
              </a:ext>
            </a:extLst>
          </p:cNvPr>
          <p:cNvSpPr>
            <a:spLocks noGrp="1"/>
          </p:cNvSpPr>
          <p:nvPr/>
        </p:nvSpPr>
        <p:spPr>
          <a:xfrm>
            <a:off x="198120" y="4808220"/>
            <a:ext cx="1584960" cy="3733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5240" tIns="15240" rIns="15240" bIns="1524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840">
                <a:solidFill>
                  <a:srgbClr val="161616"/>
                </a:solidFill>
                <a:latin typeface="Arial"/>
                <a:ea typeface="Arial"/>
                <a:cs typeface="Arial"/>
              </a:rPr>
              <a:t>m_options</a:t>
            </a:r>
          </a:p>
          <a:p>
            <a:pPr algn="l">
              <a:lnSpc>
                <a:spcPct val="105000"/>
              </a:lnSpc>
              <a:buNone/>
              <a:defRPr sz="105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840">
                <a:solidFill>
                  <a:srgbClr val="161616"/>
                </a:solidFill>
                <a:latin typeface="Arial"/>
                <a:ea typeface="Arial"/>
                <a:cs typeface="Arial"/>
              </a:rPr>
              <a:t>m_correctIndex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76606A7-954D-4705-9F29-707145EDC085}"/>
              </a:ext>
            </a:extLst>
          </p:cNvPr>
          <p:cNvSpPr>
            <a:spLocks noGrp="1"/>
          </p:cNvSpPr>
          <p:nvPr/>
        </p:nvSpPr>
        <p:spPr>
          <a:xfrm>
            <a:off x="2026920" y="4297680"/>
            <a:ext cx="1584960" cy="792480"/>
          </a:xfrm>
          <a:prstGeom prst="roundRect">
            <a:avLst>
              <a:gd name="adj" fmla="val 11538"/>
            </a:avLst>
          </a:prstGeom>
          <a:solidFill>
            <a:srgbClr val="F1F8ED"/>
          </a:solidFill>
          <a:ln w="17145">
            <a:solidFill>
              <a:srgbClr val="2D6B2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 sz="144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5550E44-634E-40B0-87DA-73AA27216AD6}"/>
              </a:ext>
            </a:extLst>
          </p:cNvPr>
          <p:cNvSpPr>
            <a:spLocks noGrp="1"/>
          </p:cNvSpPr>
          <p:nvPr/>
        </p:nvSpPr>
        <p:spPr>
          <a:xfrm>
            <a:off x="2118360" y="4358640"/>
            <a:ext cx="140208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5720" tIns="30480" rIns="45720" bIns="15240" anchor="ctr">
            <a:normAutofit fontScale="97459"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2D6B25"/>
                </a:solidFill>
                <a:latin typeface="Arial"/>
                <a:ea typeface="Arial"/>
                <a:cs typeface="Arial"/>
              </a:defRPr>
            </a:pPr>
            <a:r>
              <a:rPr sz="960" b="1">
                <a:solidFill>
                  <a:srgbClr val="2D6B25"/>
                </a:solidFill>
                <a:latin typeface="Arial"/>
                <a:ea typeface="Arial"/>
                <a:cs typeface="Arial"/>
              </a:rPr>
              <a:t>✓× </a:t>
            </a:r>
            <a:r>
              <a:rPr sz="960" b="1" err="1">
                <a:solidFill>
                  <a:srgbClr val="2D6B25"/>
                </a:solidFill>
                <a:latin typeface="Arial"/>
                <a:ea typeface="Arial"/>
                <a:cs typeface="Arial"/>
              </a:rPr>
              <a:t>TrueFalseQuestion</a:t>
            </a:r>
            <a:endParaRPr sz="960" b="1">
              <a:solidFill>
                <a:srgbClr val="2D6B2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3FE1FEF6-22EB-42DC-90F6-9B62CD5734DB}"/>
              </a:ext>
            </a:extLst>
          </p:cNvPr>
          <p:cNvSpPr>
            <a:spLocks noGrp="1"/>
          </p:cNvSpPr>
          <p:nvPr/>
        </p:nvSpPr>
        <p:spPr>
          <a:xfrm>
            <a:off x="2133600" y="4739640"/>
            <a:ext cx="1371600" cy="0"/>
          </a:xfrm>
          <a:prstGeom prst="line">
            <a:avLst/>
          </a:prstGeom>
          <a:noFill/>
          <a:ln w="13335">
            <a:solidFill>
              <a:srgbClr val="2D6B25"/>
            </a:solidFill>
            <a:prstDash val="solid"/>
          </a:ln>
        </p:spPr>
        <p:txBody>
          <a:bodyPr/>
          <a:lstStyle/>
          <a:p>
            <a:endParaRPr lang="LID4096" sz="144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3451FAA-DE4D-4F98-BBA8-72111DEEC2F3}"/>
              </a:ext>
            </a:extLst>
          </p:cNvPr>
          <p:cNvSpPr>
            <a:spLocks noGrp="1"/>
          </p:cNvSpPr>
          <p:nvPr/>
        </p:nvSpPr>
        <p:spPr>
          <a:xfrm>
            <a:off x="2133600" y="4815840"/>
            <a:ext cx="1371600" cy="1981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5240" tIns="15240" rIns="15240" bIns="15240" anchor="t">
            <a:normAutofit/>
          </a:bodyPr>
          <a:lstStyle/>
          <a:p>
            <a:pPr>
              <a:lnSpc>
                <a:spcPct val="105000"/>
              </a:lnSpc>
              <a:defRPr sz="105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lang="en-US" sz="840" err="1">
                <a:solidFill>
                  <a:srgbClr val="161616"/>
                </a:solidFill>
                <a:latin typeface="Arial"/>
                <a:ea typeface="Arial"/>
                <a:cs typeface="Arial"/>
              </a:rPr>
              <a:t>m_correctIsTrue</a:t>
            </a:r>
            <a:endParaRPr sz="840">
              <a:solidFill>
                <a:srgbClr val="16161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3119107-DA39-45E8-9722-4A1BC903A641}"/>
              </a:ext>
            </a:extLst>
          </p:cNvPr>
          <p:cNvSpPr>
            <a:spLocks noGrp="1"/>
          </p:cNvSpPr>
          <p:nvPr/>
        </p:nvSpPr>
        <p:spPr>
          <a:xfrm>
            <a:off x="4960620" y="746760"/>
            <a:ext cx="1676400" cy="701040"/>
          </a:xfrm>
          <a:prstGeom prst="roundRect">
            <a:avLst>
              <a:gd name="adj" fmla="val 13043"/>
            </a:avLst>
          </a:prstGeom>
          <a:solidFill>
            <a:srgbClr val="F5EFFB"/>
          </a:solidFill>
          <a:ln w="17145">
            <a:solidFill>
              <a:srgbClr val="63319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 sz="144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5DD23FB-BA9A-4C63-A999-D832703EB834}"/>
              </a:ext>
            </a:extLst>
          </p:cNvPr>
          <p:cNvSpPr>
            <a:spLocks noGrp="1"/>
          </p:cNvSpPr>
          <p:nvPr/>
        </p:nvSpPr>
        <p:spPr>
          <a:xfrm>
            <a:off x="5052060" y="807720"/>
            <a:ext cx="149352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5720" tIns="30480" rIns="45720" bIns="1524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633199"/>
                </a:solidFill>
                <a:latin typeface="Arial"/>
                <a:ea typeface="Arial"/>
                <a:cs typeface="Arial"/>
              </a:defRPr>
            </a:pPr>
            <a:r>
              <a:rPr lang="he-IL" sz="1280" b="1">
                <a:solidFill>
                  <a:srgbClr val="633199"/>
                </a:solidFill>
                <a:latin typeface="Arial"/>
                <a:ea typeface="Arial"/>
                <a:cs typeface="Arial"/>
              </a:rPr>
              <a:t>📕</a:t>
            </a:r>
            <a:r>
              <a:rPr sz="1260" b="1">
                <a:solidFill>
                  <a:srgbClr val="633199"/>
                </a:solidFill>
                <a:latin typeface="Arial"/>
                <a:ea typeface="Arial"/>
                <a:cs typeface="Arial"/>
              </a:rPr>
              <a:t>  main.cpp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F7E425EB-B3DB-42AB-96B2-C9FE909E76FB}"/>
              </a:ext>
            </a:extLst>
          </p:cNvPr>
          <p:cNvSpPr>
            <a:spLocks noGrp="1"/>
          </p:cNvSpPr>
          <p:nvPr/>
        </p:nvSpPr>
        <p:spPr>
          <a:xfrm>
            <a:off x="5067300" y="1127760"/>
            <a:ext cx="1463040" cy="0"/>
          </a:xfrm>
          <a:prstGeom prst="line">
            <a:avLst/>
          </a:prstGeom>
          <a:noFill/>
          <a:ln w="13335">
            <a:solidFill>
              <a:srgbClr val="633199"/>
            </a:solidFill>
            <a:prstDash val="solid"/>
          </a:ln>
        </p:spPr>
        <p:txBody>
          <a:bodyPr/>
          <a:lstStyle/>
          <a:p>
            <a:endParaRPr lang="LID4096" sz="144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69E66D1-BE7D-4B5B-A1B8-16376D03FA37}"/>
              </a:ext>
            </a:extLst>
          </p:cNvPr>
          <p:cNvSpPr>
            <a:spLocks noGrp="1"/>
          </p:cNvSpPr>
          <p:nvPr/>
        </p:nvSpPr>
        <p:spPr>
          <a:xfrm>
            <a:off x="5067300" y="1181100"/>
            <a:ext cx="146304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5240" tIns="15240" rIns="15240" bIns="1524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960">
                <a:solidFill>
                  <a:srgbClr val="161616"/>
                </a:solidFill>
                <a:latin typeface="Arial"/>
                <a:ea typeface="Arial"/>
                <a:cs typeface="Arial"/>
              </a:rPr>
              <a:t>game.run(ui)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A96FBA8-23A0-4906-B092-5719A2A0461A}"/>
              </a:ext>
            </a:extLst>
          </p:cNvPr>
          <p:cNvSpPr>
            <a:spLocks noGrp="1"/>
          </p:cNvSpPr>
          <p:nvPr/>
        </p:nvSpPr>
        <p:spPr>
          <a:xfrm>
            <a:off x="4518660" y="1783080"/>
            <a:ext cx="2560320" cy="2080260"/>
          </a:xfrm>
          <a:prstGeom prst="roundRect">
            <a:avLst>
              <a:gd name="adj" fmla="val 4396"/>
            </a:avLst>
          </a:prstGeom>
          <a:solidFill>
            <a:srgbClr val="EFF5FD"/>
          </a:solidFill>
          <a:ln w="17145">
            <a:solidFill>
              <a:srgbClr val="0D4F9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 sz="144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512FC30-CD02-4C32-9621-FB95FE77B649}"/>
              </a:ext>
            </a:extLst>
          </p:cNvPr>
          <p:cNvSpPr>
            <a:spLocks noGrp="1"/>
          </p:cNvSpPr>
          <p:nvPr/>
        </p:nvSpPr>
        <p:spPr>
          <a:xfrm>
            <a:off x="4610100" y="1844040"/>
            <a:ext cx="237744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5720" tIns="30480" rIns="45720" bIns="1524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400" b="1" i="0">
                <a:solidFill>
                  <a:srgbClr val="0D4F9B"/>
                </a:solidFill>
                <a:latin typeface="Arial"/>
                <a:ea typeface="Arial"/>
                <a:cs typeface="Arial"/>
              </a:defRPr>
            </a:pPr>
            <a:r>
              <a:rPr sz="1920" b="1">
                <a:solidFill>
                  <a:srgbClr val="0D4F9B"/>
                </a:solidFill>
                <a:latin typeface="Arial"/>
                <a:ea typeface="Arial"/>
                <a:cs typeface="Arial"/>
              </a:rPr>
              <a:t>🎮  QuizGame</a:t>
            </a:r>
          </a:p>
        </p:txBody>
      </p:sp>
      <p:sp>
        <p:nvSpPr>
          <p:cNvPr id="28" name="Straight Connector 27">
            <a:extLst>
              <a:ext uri="{FF2B5EF4-FFF2-40B4-BE49-F238E27FC236}">
                <a16:creationId xmlns:a16="http://schemas.microsoft.com/office/drawing/2014/main" id="{8A5696EA-6F29-4FA3-92F1-4CFEB2271B40}"/>
              </a:ext>
            </a:extLst>
          </p:cNvPr>
          <p:cNvSpPr>
            <a:spLocks noGrp="1"/>
          </p:cNvSpPr>
          <p:nvPr/>
        </p:nvSpPr>
        <p:spPr>
          <a:xfrm>
            <a:off x="4625340" y="2331720"/>
            <a:ext cx="2346960" cy="0"/>
          </a:xfrm>
          <a:prstGeom prst="line">
            <a:avLst/>
          </a:prstGeom>
          <a:noFill/>
          <a:ln w="13335">
            <a:solidFill>
              <a:srgbClr val="0D4F9B"/>
            </a:solidFill>
            <a:prstDash val="solid"/>
          </a:ln>
        </p:spPr>
        <p:txBody>
          <a:bodyPr/>
          <a:lstStyle/>
          <a:p>
            <a:endParaRPr lang="LID4096" sz="144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AF9E5EC-1384-4E53-B620-2133ABD020D1}"/>
              </a:ext>
            </a:extLst>
          </p:cNvPr>
          <p:cNvSpPr>
            <a:spLocks noGrp="1"/>
          </p:cNvSpPr>
          <p:nvPr/>
        </p:nvSpPr>
        <p:spPr>
          <a:xfrm>
            <a:off x="4625340" y="2453640"/>
            <a:ext cx="234696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5240" tIns="15240" rIns="15240" bIns="1524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080">
                <a:solidFill>
                  <a:srgbClr val="161616"/>
                </a:solidFill>
                <a:latin typeface="Arial"/>
                <a:ea typeface="Arial"/>
                <a:cs typeface="Arial"/>
              </a:rPr>
              <a:t>vector&lt;Question*&gt; m_questions</a:t>
            </a:r>
          </a:p>
          <a:p>
            <a:pPr algn="l">
              <a:lnSpc>
                <a:spcPct val="105000"/>
              </a:lnSpc>
              <a:buNone/>
              <a:defRPr sz="135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080">
                <a:solidFill>
                  <a:srgbClr val="161616"/>
                </a:solidFill>
                <a:latin typeface="Arial"/>
                <a:ea typeface="Arial"/>
                <a:cs typeface="Arial"/>
              </a:rPr>
              <a:t>Player m_player</a:t>
            </a:r>
          </a:p>
          <a:p>
            <a:pPr algn="l">
              <a:lnSpc>
                <a:spcPct val="105000"/>
              </a:lnSpc>
              <a:buNone/>
              <a:defRPr sz="135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080">
                <a:solidFill>
                  <a:srgbClr val="161616"/>
                </a:solidFill>
                <a:latin typeface="Arial"/>
                <a:ea typeface="Arial"/>
                <a:cs typeface="Arial"/>
              </a:rPr>
              <a:t>Leaderboard m_leaderboard</a:t>
            </a:r>
          </a:p>
          <a:p>
            <a:pPr algn="l">
              <a:lnSpc>
                <a:spcPct val="105000"/>
              </a:lnSpc>
              <a:buNone/>
              <a:defRPr sz="135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080">
                <a:solidFill>
                  <a:srgbClr val="161616"/>
                </a:solidFill>
                <a:latin typeface="Arial"/>
                <a:ea typeface="Arial"/>
                <a:cs typeface="Arial"/>
              </a:rPr>
              <a:t>m_difficulty / m_targetScore /</a:t>
            </a:r>
          </a:p>
          <a:p>
            <a:pPr algn="l">
              <a:lnSpc>
                <a:spcPct val="105000"/>
              </a:lnSpc>
              <a:buNone/>
              <a:defRPr sz="135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080">
                <a:solidFill>
                  <a:srgbClr val="161616"/>
                </a:solidFill>
                <a:latin typeface="Arial"/>
                <a:ea typeface="Arial"/>
                <a:cs typeface="Arial"/>
              </a:rPr>
              <a:t>m_startLives / m_currentIndex</a:t>
            </a:r>
          </a:p>
        </p:txBody>
      </p:sp>
      <p:cxnSp>
        <p:nvCxnSpPr>
          <p:cNvPr id="122" name="Straight Arrow Connector 121"/>
          <p:cNvCxnSpPr>
            <a:stCxn id="22" idx="2"/>
            <a:endCxn id="26" idx="0"/>
          </p:cNvCxnSpPr>
          <p:nvPr/>
        </p:nvCxnSpPr>
        <p:spPr>
          <a:xfrm>
            <a:off x="5798820" y="1447800"/>
            <a:ext cx="0" cy="335280"/>
          </a:xfrm>
          <a:prstGeom prst="straightConnector1">
            <a:avLst/>
          </a:prstGeom>
          <a:ln w="20955">
            <a:solidFill>
              <a:schemeClr val="accent1">
                <a:lumMod val="40000"/>
                <a:lumOff val="60000"/>
              </a:schemeClr>
            </a:solidFill>
            <a:prstDash val="solid"/>
            <a:tailEnd type="triangle" w="med" len="med"/>
          </a:ln>
        </p:spPr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7BC2FFA5-EA3D-4566-90D1-19D5DEA13C1A}"/>
              </a:ext>
            </a:extLst>
          </p:cNvPr>
          <p:cNvSpPr>
            <a:spLocks noGrp="1"/>
          </p:cNvSpPr>
          <p:nvPr/>
        </p:nvSpPr>
        <p:spPr>
          <a:xfrm>
            <a:off x="3470910" y="2804160"/>
            <a:ext cx="609600" cy="213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5720" tIns="30480" rIns="45720" bIns="1524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50" b="1">
                <a:solidFill>
                  <a:schemeClr val="accent1">
                    <a:lumMod val="20000"/>
                    <a:lumOff val="80000"/>
                  </a:schemeClr>
                </a:solidFill>
                <a:latin typeface="Arial"/>
                <a:ea typeface="Arial"/>
                <a:cs typeface="Arial"/>
              </a:rPr>
              <a:t>owns</a:t>
            </a:r>
            <a:endParaRPr lang="he-IL" sz="950" b="1">
              <a:solidFill>
                <a:schemeClr val="accent1">
                  <a:lumMod val="20000"/>
                  <a:lumOff val="8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CD12622-9866-4A18-B120-1344CDDD5748}"/>
              </a:ext>
            </a:extLst>
          </p:cNvPr>
          <p:cNvSpPr>
            <a:spLocks noGrp="1"/>
          </p:cNvSpPr>
          <p:nvPr/>
        </p:nvSpPr>
        <p:spPr>
          <a:xfrm>
            <a:off x="3276600" y="2621280"/>
            <a:ext cx="1104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5720" tIns="30480" rIns="45720" bIns="1524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US" sz="8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/>
                <a:ea typeface="Arial"/>
                <a:cs typeface="Arial"/>
              </a:rPr>
              <a:t>vector&lt;Question*&gt;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C0C30BA-93B9-4D5B-A15E-44B9CA854E9A}"/>
              </a:ext>
            </a:extLst>
          </p:cNvPr>
          <p:cNvSpPr>
            <a:spLocks noGrp="1"/>
          </p:cNvSpPr>
          <p:nvPr/>
        </p:nvSpPr>
        <p:spPr>
          <a:xfrm>
            <a:off x="7856220" y="2057400"/>
            <a:ext cx="1584960" cy="807720"/>
          </a:xfrm>
          <a:prstGeom prst="roundRect">
            <a:avLst>
              <a:gd name="adj" fmla="val 11321"/>
            </a:avLst>
          </a:prstGeom>
          <a:solidFill>
            <a:srgbClr val="F5EFFB"/>
          </a:solidFill>
          <a:ln w="17145">
            <a:solidFill>
              <a:srgbClr val="63319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 sz="144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D5ABAC5-72BA-4C9B-9831-791C1ECA9CDF}"/>
              </a:ext>
            </a:extLst>
          </p:cNvPr>
          <p:cNvSpPr>
            <a:spLocks noGrp="1"/>
          </p:cNvSpPr>
          <p:nvPr/>
        </p:nvSpPr>
        <p:spPr>
          <a:xfrm>
            <a:off x="7947660" y="2118360"/>
            <a:ext cx="140208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5720" tIns="30480" rIns="45720" bIns="1524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633199"/>
                </a:solidFill>
                <a:latin typeface="Arial"/>
                <a:ea typeface="Arial"/>
                <a:cs typeface="Arial"/>
              </a:defRPr>
            </a:pPr>
            <a:r>
              <a:rPr lang="he-IL" sz="1280" b="1">
                <a:solidFill>
                  <a:srgbClr val="633199"/>
                </a:solidFill>
                <a:latin typeface="Arial"/>
                <a:ea typeface="Arial"/>
                <a:cs typeface="Arial"/>
              </a:rPr>
              <a:t>💻</a:t>
            </a:r>
            <a:r>
              <a:rPr sz="1200" b="1">
                <a:solidFill>
                  <a:srgbClr val="633199"/>
                </a:solidFill>
                <a:latin typeface="Arial"/>
                <a:ea typeface="Arial"/>
                <a:cs typeface="Arial"/>
              </a:rPr>
              <a:t>  </a:t>
            </a:r>
            <a:r>
              <a:rPr sz="1200" b="1" err="1">
                <a:solidFill>
                  <a:srgbClr val="633199"/>
                </a:solidFill>
                <a:latin typeface="Arial"/>
                <a:ea typeface="Arial"/>
                <a:cs typeface="Arial"/>
              </a:rPr>
              <a:t>ConsoleUI</a:t>
            </a:r>
            <a:endParaRPr sz="1200" b="1">
              <a:solidFill>
                <a:srgbClr val="63319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Straight Connector 35">
            <a:extLst>
              <a:ext uri="{FF2B5EF4-FFF2-40B4-BE49-F238E27FC236}">
                <a16:creationId xmlns:a16="http://schemas.microsoft.com/office/drawing/2014/main" id="{A50A4AEF-9D10-4916-B98D-9BC2A57EC8A1}"/>
              </a:ext>
            </a:extLst>
          </p:cNvPr>
          <p:cNvSpPr>
            <a:spLocks noGrp="1"/>
          </p:cNvSpPr>
          <p:nvPr/>
        </p:nvSpPr>
        <p:spPr>
          <a:xfrm>
            <a:off x="7962900" y="2499360"/>
            <a:ext cx="1371600" cy="0"/>
          </a:xfrm>
          <a:prstGeom prst="line">
            <a:avLst/>
          </a:prstGeom>
          <a:noFill/>
          <a:ln w="13335">
            <a:solidFill>
              <a:srgbClr val="633199"/>
            </a:solidFill>
            <a:prstDash val="solid"/>
          </a:ln>
        </p:spPr>
        <p:txBody>
          <a:bodyPr/>
          <a:lstStyle/>
          <a:p>
            <a:endParaRPr lang="LID4096" sz="144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277A876-C161-4355-81A5-F21AE9B123DE}"/>
              </a:ext>
            </a:extLst>
          </p:cNvPr>
          <p:cNvSpPr>
            <a:spLocks noGrp="1"/>
          </p:cNvSpPr>
          <p:nvPr/>
        </p:nvSpPr>
        <p:spPr>
          <a:xfrm>
            <a:off x="7962900" y="2567940"/>
            <a:ext cx="1371600" cy="2209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5240" tIns="15240" rIns="15240" bIns="1524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161616"/>
                </a:solidFill>
                <a:latin typeface="Arial"/>
                <a:ea typeface="Arial"/>
                <a:cs typeface="Arial"/>
              </a:rPr>
              <a:t>all input/output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D7EF9FF3-973D-4AF7-ABB7-D04D7EE92D5B}"/>
              </a:ext>
            </a:extLst>
          </p:cNvPr>
          <p:cNvSpPr>
            <a:spLocks noGrp="1"/>
          </p:cNvSpPr>
          <p:nvPr/>
        </p:nvSpPr>
        <p:spPr>
          <a:xfrm>
            <a:off x="7856220" y="3139440"/>
            <a:ext cx="1767840" cy="822960"/>
          </a:xfrm>
          <a:prstGeom prst="roundRect">
            <a:avLst>
              <a:gd name="adj" fmla="val 11111"/>
            </a:avLst>
          </a:prstGeom>
          <a:solidFill>
            <a:srgbClr val="FFF5EE"/>
          </a:solidFill>
          <a:ln w="17145">
            <a:solidFill>
              <a:srgbClr val="D54A0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 sz="144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E58FB9D-EB83-4BCF-A168-B3BA34A2C25B}"/>
              </a:ext>
            </a:extLst>
          </p:cNvPr>
          <p:cNvSpPr>
            <a:spLocks noGrp="1"/>
          </p:cNvSpPr>
          <p:nvPr/>
        </p:nvSpPr>
        <p:spPr>
          <a:xfrm>
            <a:off x="7947660" y="3200400"/>
            <a:ext cx="158496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5720" tIns="30480" rIns="45720" bIns="1524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D54A0B"/>
                </a:solidFill>
                <a:latin typeface="Arial"/>
                <a:ea typeface="Arial"/>
                <a:cs typeface="Arial"/>
              </a:defRPr>
            </a:pPr>
            <a:r>
              <a:rPr lang="he-IL" sz="1280" b="1">
                <a:solidFill>
                  <a:srgbClr val="D54A0B"/>
                </a:solidFill>
                <a:latin typeface="Arial"/>
                <a:ea typeface="Arial"/>
                <a:cs typeface="Arial"/>
              </a:rPr>
              <a:t>💾</a:t>
            </a:r>
            <a:r>
              <a:rPr sz="1200" b="1">
                <a:solidFill>
                  <a:srgbClr val="D54A0B"/>
                </a:solidFill>
                <a:latin typeface="Arial"/>
                <a:ea typeface="Arial"/>
                <a:cs typeface="Arial"/>
              </a:rPr>
              <a:t>  </a:t>
            </a:r>
            <a:r>
              <a:rPr sz="1200" b="1" err="1">
                <a:solidFill>
                  <a:srgbClr val="D54A0B"/>
                </a:solidFill>
                <a:latin typeface="Arial"/>
                <a:ea typeface="Arial"/>
                <a:cs typeface="Arial"/>
              </a:rPr>
              <a:t>SaveManager</a:t>
            </a:r>
            <a:endParaRPr sz="1200" b="1">
              <a:solidFill>
                <a:srgbClr val="D54A0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Straight Connector 39">
            <a:extLst>
              <a:ext uri="{FF2B5EF4-FFF2-40B4-BE49-F238E27FC236}">
                <a16:creationId xmlns:a16="http://schemas.microsoft.com/office/drawing/2014/main" id="{7F325CFA-0687-4F13-A978-633B2819E38F}"/>
              </a:ext>
            </a:extLst>
          </p:cNvPr>
          <p:cNvSpPr>
            <a:spLocks noGrp="1"/>
          </p:cNvSpPr>
          <p:nvPr/>
        </p:nvSpPr>
        <p:spPr>
          <a:xfrm>
            <a:off x="7962900" y="3581400"/>
            <a:ext cx="1554480" cy="0"/>
          </a:xfrm>
          <a:prstGeom prst="line">
            <a:avLst/>
          </a:prstGeom>
          <a:noFill/>
          <a:ln w="13335">
            <a:solidFill>
              <a:srgbClr val="D54A0B"/>
            </a:solidFill>
            <a:prstDash val="solid"/>
          </a:ln>
        </p:spPr>
        <p:txBody>
          <a:bodyPr/>
          <a:lstStyle/>
          <a:p>
            <a:endParaRPr lang="LID4096" sz="144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52100F5-E105-4A80-9782-EE4B68432A23}"/>
              </a:ext>
            </a:extLst>
          </p:cNvPr>
          <p:cNvSpPr>
            <a:spLocks noGrp="1"/>
          </p:cNvSpPr>
          <p:nvPr/>
        </p:nvSpPr>
        <p:spPr>
          <a:xfrm>
            <a:off x="7962900" y="3649980"/>
            <a:ext cx="1554480" cy="2362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5240" tIns="15240" rIns="15240" bIns="1524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840">
                <a:solidFill>
                  <a:srgbClr val="161616"/>
                </a:solidFill>
                <a:latin typeface="Arial"/>
                <a:ea typeface="Arial"/>
                <a:cs typeface="Arial"/>
              </a:rPr>
              <a:t>vector&lt;SaveSlot&gt; m_slots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3C0C003-A976-43C1-8010-14757ED17E38}"/>
              </a:ext>
            </a:extLst>
          </p:cNvPr>
          <p:cNvSpPr>
            <a:spLocks noGrp="1"/>
          </p:cNvSpPr>
          <p:nvPr/>
        </p:nvSpPr>
        <p:spPr>
          <a:xfrm>
            <a:off x="7200900" y="2179320"/>
            <a:ext cx="533400" cy="198120"/>
          </a:xfrm>
          <a:prstGeom prst="rect">
            <a:avLst/>
          </a:prstGeom>
          <a:noFill/>
          <a:ln w="0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  <p:txBody>
          <a:bodyPr wrap="square" lIns="45720" tIns="30480" rIns="45720" bIns="1524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US" sz="9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/>
                <a:ea typeface="Arial"/>
                <a:cs typeface="Arial"/>
              </a:rPr>
              <a:t>uses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533D50B-7B02-4A13-B8F4-2CFA26D94272}"/>
              </a:ext>
            </a:extLst>
          </p:cNvPr>
          <p:cNvSpPr>
            <a:spLocks noGrp="1"/>
          </p:cNvSpPr>
          <p:nvPr/>
        </p:nvSpPr>
        <p:spPr>
          <a:xfrm>
            <a:off x="7200900" y="3284220"/>
            <a:ext cx="533400" cy="1981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5720" tIns="30480" rIns="45720" bIns="1524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/>
                <a:ea typeface="Arial"/>
                <a:cs typeface="Arial"/>
              </a:rPr>
              <a:t>uses</a:t>
            </a:r>
            <a:endParaRPr lang="he-IL" sz="900" b="1">
              <a:solidFill>
                <a:schemeClr val="accent1">
                  <a:lumMod val="20000"/>
                  <a:lumOff val="8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7C066023-E549-4D57-B1FC-DA22EDC0A5F7}"/>
              </a:ext>
            </a:extLst>
          </p:cNvPr>
          <p:cNvSpPr>
            <a:spLocks noGrp="1"/>
          </p:cNvSpPr>
          <p:nvPr/>
        </p:nvSpPr>
        <p:spPr>
          <a:xfrm>
            <a:off x="8046720" y="4450080"/>
            <a:ext cx="1508760" cy="784860"/>
          </a:xfrm>
          <a:prstGeom prst="roundRect">
            <a:avLst>
              <a:gd name="adj" fmla="val 11650"/>
            </a:avLst>
          </a:prstGeom>
          <a:solidFill>
            <a:srgbClr val="FFF5EE"/>
          </a:solidFill>
          <a:ln w="17145">
            <a:solidFill>
              <a:srgbClr val="D54A0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 sz="144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15FF89C-C2BA-4DF9-B4F1-BC5A5650D54F}"/>
              </a:ext>
            </a:extLst>
          </p:cNvPr>
          <p:cNvSpPr>
            <a:spLocks noGrp="1"/>
          </p:cNvSpPr>
          <p:nvPr/>
        </p:nvSpPr>
        <p:spPr>
          <a:xfrm>
            <a:off x="8138160" y="4511040"/>
            <a:ext cx="132588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5720" tIns="30480" rIns="45720" bIns="1524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D54A0B"/>
                </a:solidFill>
                <a:latin typeface="Arial"/>
                <a:ea typeface="Arial"/>
                <a:cs typeface="Arial"/>
              </a:defRPr>
            </a:pPr>
            <a:r>
              <a:rPr lang="he-IL" sz="1280" b="1">
                <a:solidFill>
                  <a:srgbClr val="D54A0B"/>
                </a:solidFill>
                <a:latin typeface="Arial"/>
                <a:ea typeface="Arial"/>
                <a:cs typeface="Arial"/>
              </a:rPr>
              <a:t>💾</a:t>
            </a:r>
            <a:r>
              <a:rPr sz="1200" b="1">
                <a:solidFill>
                  <a:srgbClr val="D54A0B"/>
                </a:solidFill>
                <a:latin typeface="Arial"/>
                <a:ea typeface="Arial"/>
                <a:cs typeface="Arial"/>
              </a:rPr>
              <a:t>  </a:t>
            </a:r>
            <a:r>
              <a:rPr sz="1200" b="1" err="1">
                <a:solidFill>
                  <a:srgbClr val="D54A0B"/>
                </a:solidFill>
                <a:latin typeface="Arial"/>
                <a:ea typeface="Arial"/>
                <a:cs typeface="Arial"/>
              </a:rPr>
              <a:t>SaveSlot</a:t>
            </a:r>
            <a:endParaRPr sz="1200" b="1">
              <a:solidFill>
                <a:srgbClr val="D54A0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" name="Straight Connector 47">
            <a:extLst>
              <a:ext uri="{FF2B5EF4-FFF2-40B4-BE49-F238E27FC236}">
                <a16:creationId xmlns:a16="http://schemas.microsoft.com/office/drawing/2014/main" id="{AFA1E127-3556-4200-A352-0AAC03E3CE88}"/>
              </a:ext>
            </a:extLst>
          </p:cNvPr>
          <p:cNvSpPr>
            <a:spLocks noGrp="1"/>
          </p:cNvSpPr>
          <p:nvPr/>
        </p:nvSpPr>
        <p:spPr>
          <a:xfrm>
            <a:off x="8153400" y="4861560"/>
            <a:ext cx="1295400" cy="0"/>
          </a:xfrm>
          <a:prstGeom prst="line">
            <a:avLst/>
          </a:prstGeom>
          <a:noFill/>
          <a:ln w="13335">
            <a:solidFill>
              <a:srgbClr val="D54A0B"/>
            </a:solidFill>
            <a:prstDash val="solid"/>
          </a:ln>
        </p:spPr>
        <p:txBody>
          <a:bodyPr/>
          <a:lstStyle/>
          <a:p>
            <a:endParaRPr lang="LID4096" sz="144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E075365-8BC3-44FA-BF3B-AB778DD4E5B4}"/>
              </a:ext>
            </a:extLst>
          </p:cNvPr>
          <p:cNvSpPr>
            <a:spLocks noGrp="1"/>
          </p:cNvSpPr>
          <p:nvPr/>
        </p:nvSpPr>
        <p:spPr>
          <a:xfrm>
            <a:off x="8153400" y="4914900"/>
            <a:ext cx="1295400" cy="243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5240" tIns="15240" rIns="15240" bIns="15240" anchor="t">
            <a:normAutofit fontScale="92970" lnSpcReduction="10000"/>
          </a:bodyPr>
          <a:lstStyle/>
          <a:p>
            <a:pPr algn="l">
              <a:lnSpc>
                <a:spcPct val="105000"/>
              </a:lnSpc>
              <a:buNone/>
              <a:defRPr sz="97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780">
                <a:solidFill>
                  <a:srgbClr val="161616"/>
                </a:solidFill>
                <a:latin typeface="Arial"/>
                <a:ea typeface="Arial"/>
                <a:cs typeface="Arial"/>
              </a:rPr>
              <a:t>mode-based save data</a:t>
            </a:r>
          </a:p>
          <a:p>
            <a:pPr algn="l">
              <a:lnSpc>
                <a:spcPct val="105000"/>
              </a:lnSpc>
              <a:buNone/>
              <a:defRPr sz="97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780">
                <a:solidFill>
                  <a:srgbClr val="161616"/>
                </a:solidFill>
                <a:latin typeface="Arial"/>
                <a:ea typeface="Arial"/>
                <a:cs typeface="Arial"/>
              </a:rPr>
              <a:t>(e.g., settings, progress)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6EBB4CCA-6A67-4351-8F07-5E93EFA30016}"/>
              </a:ext>
            </a:extLst>
          </p:cNvPr>
          <p:cNvSpPr>
            <a:spLocks noGrp="1"/>
          </p:cNvSpPr>
          <p:nvPr/>
        </p:nvSpPr>
        <p:spPr>
          <a:xfrm>
            <a:off x="2796540" y="5341620"/>
            <a:ext cx="1828800" cy="784860"/>
          </a:xfrm>
          <a:prstGeom prst="roundRect">
            <a:avLst>
              <a:gd name="adj" fmla="val 11650"/>
            </a:avLst>
          </a:prstGeom>
          <a:solidFill>
            <a:srgbClr val="EDF9F8"/>
          </a:solidFill>
          <a:ln w="17145">
            <a:solidFill>
              <a:srgbClr val="007E8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 sz="144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E75FB96-FA3B-414C-89DA-B846C04E56F4}"/>
              </a:ext>
            </a:extLst>
          </p:cNvPr>
          <p:cNvSpPr>
            <a:spLocks noGrp="1"/>
          </p:cNvSpPr>
          <p:nvPr/>
        </p:nvSpPr>
        <p:spPr>
          <a:xfrm>
            <a:off x="2887980" y="5402580"/>
            <a:ext cx="164592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5720" tIns="30480" rIns="45720" bIns="1524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007E82"/>
                </a:solidFill>
                <a:latin typeface="Arial"/>
                <a:ea typeface="Arial"/>
                <a:cs typeface="Arial"/>
              </a:defRPr>
            </a:pPr>
            <a:r>
              <a:rPr sz="1260" b="1">
                <a:solidFill>
                  <a:srgbClr val="007E82"/>
                </a:solidFill>
                <a:latin typeface="Arial"/>
                <a:ea typeface="Arial"/>
                <a:cs typeface="Arial"/>
              </a:rPr>
              <a:t>♟  Player</a:t>
            </a:r>
          </a:p>
        </p:txBody>
      </p:sp>
      <p:sp>
        <p:nvSpPr>
          <p:cNvPr id="55" name="Straight Connector 54">
            <a:extLst>
              <a:ext uri="{FF2B5EF4-FFF2-40B4-BE49-F238E27FC236}">
                <a16:creationId xmlns:a16="http://schemas.microsoft.com/office/drawing/2014/main" id="{E02944B5-9BDC-47F7-925A-759E0D029938}"/>
              </a:ext>
            </a:extLst>
          </p:cNvPr>
          <p:cNvSpPr>
            <a:spLocks noGrp="1"/>
          </p:cNvSpPr>
          <p:nvPr/>
        </p:nvSpPr>
        <p:spPr>
          <a:xfrm>
            <a:off x="2903220" y="5768340"/>
            <a:ext cx="1615440" cy="0"/>
          </a:xfrm>
          <a:prstGeom prst="line">
            <a:avLst/>
          </a:prstGeom>
          <a:noFill/>
          <a:ln w="13335">
            <a:solidFill>
              <a:srgbClr val="007E82"/>
            </a:solidFill>
            <a:prstDash val="solid"/>
          </a:ln>
        </p:spPr>
        <p:txBody>
          <a:bodyPr/>
          <a:lstStyle/>
          <a:p>
            <a:endParaRPr lang="LID4096" sz="144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463F879-AB10-4AFF-BC1F-D5E1C36F1592}"/>
              </a:ext>
            </a:extLst>
          </p:cNvPr>
          <p:cNvSpPr>
            <a:spLocks noGrp="1"/>
          </p:cNvSpPr>
          <p:nvPr/>
        </p:nvSpPr>
        <p:spPr>
          <a:xfrm>
            <a:off x="2903220" y="5829300"/>
            <a:ext cx="1615440" cy="2209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5240" tIns="15240" rIns="15240" bIns="1524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161616"/>
                </a:solidFill>
                <a:latin typeface="Arial"/>
                <a:ea typeface="Arial"/>
                <a:cs typeface="Arial"/>
              </a:rPr>
              <a:t>m_name, m_score, m_lives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7F1585DE-A436-4200-8A5F-A52698BFC1FF}"/>
              </a:ext>
            </a:extLst>
          </p:cNvPr>
          <p:cNvSpPr>
            <a:spLocks noGrp="1"/>
          </p:cNvSpPr>
          <p:nvPr/>
        </p:nvSpPr>
        <p:spPr>
          <a:xfrm>
            <a:off x="4853940" y="5341620"/>
            <a:ext cx="2438400" cy="784860"/>
          </a:xfrm>
          <a:prstGeom prst="roundRect">
            <a:avLst>
              <a:gd name="adj" fmla="val 11650"/>
            </a:avLst>
          </a:prstGeom>
          <a:solidFill>
            <a:srgbClr val="EFF5FD"/>
          </a:solidFill>
          <a:ln w="17145">
            <a:solidFill>
              <a:srgbClr val="0D4F9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 sz="144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9B35336-27A4-4658-888F-A6BD0FB28FDB}"/>
              </a:ext>
            </a:extLst>
          </p:cNvPr>
          <p:cNvSpPr>
            <a:spLocks noGrp="1"/>
          </p:cNvSpPr>
          <p:nvPr/>
        </p:nvSpPr>
        <p:spPr>
          <a:xfrm>
            <a:off x="4945380" y="5402580"/>
            <a:ext cx="225552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5720" tIns="30480" rIns="45720" bIns="1524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0D4F9B"/>
                </a:solidFill>
                <a:latin typeface="Arial"/>
                <a:ea typeface="Arial"/>
                <a:cs typeface="Arial"/>
              </a:defRPr>
            </a:pPr>
            <a:r>
              <a:rPr sz="1260" b="1">
                <a:solidFill>
                  <a:srgbClr val="0D4F9B"/>
                </a:solidFill>
                <a:latin typeface="Arial"/>
                <a:ea typeface="Arial"/>
                <a:cs typeface="Arial"/>
              </a:rPr>
              <a:t>🏆  Leaderboard</a:t>
            </a:r>
          </a:p>
        </p:txBody>
      </p:sp>
      <p:sp>
        <p:nvSpPr>
          <p:cNvPr id="59" name="Straight Connector 58">
            <a:extLst>
              <a:ext uri="{FF2B5EF4-FFF2-40B4-BE49-F238E27FC236}">
                <a16:creationId xmlns:a16="http://schemas.microsoft.com/office/drawing/2014/main" id="{80E4819C-B067-4119-A6D6-B51AA90BCAAA}"/>
              </a:ext>
            </a:extLst>
          </p:cNvPr>
          <p:cNvSpPr>
            <a:spLocks noGrp="1"/>
          </p:cNvSpPr>
          <p:nvPr/>
        </p:nvSpPr>
        <p:spPr>
          <a:xfrm>
            <a:off x="4960620" y="5768340"/>
            <a:ext cx="2225040" cy="0"/>
          </a:xfrm>
          <a:prstGeom prst="line">
            <a:avLst/>
          </a:prstGeom>
          <a:noFill/>
          <a:ln w="13335">
            <a:solidFill>
              <a:srgbClr val="0D4F9B"/>
            </a:solidFill>
            <a:prstDash val="solid"/>
          </a:ln>
        </p:spPr>
        <p:txBody>
          <a:bodyPr/>
          <a:lstStyle/>
          <a:p>
            <a:endParaRPr lang="LID4096" sz="144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CBB1F5A-1E61-4BCD-A1BF-AA4BDEC7297F}"/>
              </a:ext>
            </a:extLst>
          </p:cNvPr>
          <p:cNvSpPr>
            <a:spLocks noGrp="1"/>
          </p:cNvSpPr>
          <p:nvPr/>
        </p:nvSpPr>
        <p:spPr>
          <a:xfrm>
            <a:off x="4960620" y="5829300"/>
            <a:ext cx="2225040" cy="2209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5240" tIns="15240" rIns="15240" bIns="1524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840">
                <a:solidFill>
                  <a:srgbClr val="161616"/>
                </a:solidFill>
                <a:latin typeface="Arial"/>
                <a:ea typeface="Arial"/>
                <a:cs typeface="Arial"/>
              </a:rPr>
              <a:t>unordered_map&lt;string, LeaderboardEntry&gt;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0C401C7-1EC9-4A3B-B9F3-E644199662CB}"/>
              </a:ext>
            </a:extLst>
          </p:cNvPr>
          <p:cNvSpPr>
            <a:spLocks noGrp="1"/>
          </p:cNvSpPr>
          <p:nvPr/>
        </p:nvSpPr>
        <p:spPr>
          <a:xfrm>
            <a:off x="5882640" y="5090160"/>
            <a:ext cx="182880" cy="182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5720" tIns="30480" rIns="45720" bIns="1524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endParaRPr sz="84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EBB4FEB-BDB2-4079-A078-398D00ABA109}"/>
              </a:ext>
            </a:extLst>
          </p:cNvPr>
          <p:cNvSpPr>
            <a:spLocks noGrp="1"/>
          </p:cNvSpPr>
          <p:nvPr/>
        </p:nvSpPr>
        <p:spPr>
          <a:xfrm>
            <a:off x="7848600" y="5410200"/>
            <a:ext cx="1584960" cy="777240"/>
          </a:xfrm>
          <a:prstGeom prst="roundRect">
            <a:avLst>
              <a:gd name="adj" fmla="val 11765"/>
            </a:avLst>
          </a:prstGeom>
          <a:solidFill>
            <a:srgbClr val="EFF5FD"/>
          </a:solidFill>
          <a:ln w="17145">
            <a:solidFill>
              <a:srgbClr val="0D4F9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 sz="144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779BD53-EFC7-43CA-8ECC-E5AE2596AE0B}"/>
              </a:ext>
            </a:extLst>
          </p:cNvPr>
          <p:cNvSpPr>
            <a:spLocks noGrp="1"/>
          </p:cNvSpPr>
          <p:nvPr/>
        </p:nvSpPr>
        <p:spPr>
          <a:xfrm>
            <a:off x="7940040" y="5471160"/>
            <a:ext cx="140208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5720" tIns="30480" rIns="45720" bIns="1524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0D4F9B"/>
                </a:solidFill>
                <a:latin typeface="Arial"/>
                <a:ea typeface="Arial"/>
                <a:cs typeface="Arial"/>
              </a:defRPr>
            </a:pPr>
            <a:r>
              <a:rPr sz="960" b="1">
                <a:solidFill>
                  <a:srgbClr val="0D4F9B"/>
                </a:solidFill>
                <a:latin typeface="Arial"/>
                <a:ea typeface="Arial"/>
                <a:cs typeface="Arial"/>
              </a:rPr>
              <a:t>★  LeaderboardEntry</a:t>
            </a:r>
          </a:p>
        </p:txBody>
      </p:sp>
      <p:sp>
        <p:nvSpPr>
          <p:cNvPr id="67" name="Straight Connector 66">
            <a:extLst>
              <a:ext uri="{FF2B5EF4-FFF2-40B4-BE49-F238E27FC236}">
                <a16:creationId xmlns:a16="http://schemas.microsoft.com/office/drawing/2014/main" id="{6299AC50-63ED-4DF8-9669-889E22B01147}"/>
              </a:ext>
            </a:extLst>
          </p:cNvPr>
          <p:cNvSpPr>
            <a:spLocks noGrp="1"/>
          </p:cNvSpPr>
          <p:nvPr/>
        </p:nvSpPr>
        <p:spPr>
          <a:xfrm>
            <a:off x="7955280" y="5798820"/>
            <a:ext cx="1371600" cy="0"/>
          </a:xfrm>
          <a:prstGeom prst="line">
            <a:avLst/>
          </a:prstGeom>
          <a:noFill/>
          <a:ln w="13335">
            <a:solidFill>
              <a:srgbClr val="0D4F9B"/>
            </a:solidFill>
            <a:prstDash val="solid"/>
          </a:ln>
        </p:spPr>
        <p:txBody>
          <a:bodyPr/>
          <a:lstStyle/>
          <a:p>
            <a:endParaRPr lang="LID4096" sz="144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70A57EC0-D366-4C12-8AC6-77905B836254}"/>
              </a:ext>
            </a:extLst>
          </p:cNvPr>
          <p:cNvSpPr>
            <a:spLocks noGrp="1"/>
          </p:cNvSpPr>
          <p:nvPr/>
        </p:nvSpPr>
        <p:spPr>
          <a:xfrm>
            <a:off x="7955280" y="5852160"/>
            <a:ext cx="1371600" cy="259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5240" tIns="15240" rIns="15240" bIns="15240" anchor="t">
            <a:normAutofit fontScale="91575"/>
          </a:bodyPr>
          <a:lstStyle/>
          <a:p>
            <a:pPr algn="l">
              <a:lnSpc>
                <a:spcPct val="105000"/>
              </a:lnSpc>
              <a:buNone/>
              <a:defRPr sz="97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780">
                <a:solidFill>
                  <a:srgbClr val="161616"/>
                </a:solidFill>
                <a:latin typeface="Arial"/>
                <a:ea typeface="Arial"/>
                <a:cs typeface="Arial"/>
              </a:rPr>
              <a:t>scores[3]</a:t>
            </a:r>
          </a:p>
          <a:p>
            <a:pPr algn="l">
              <a:lnSpc>
                <a:spcPct val="105000"/>
              </a:lnSpc>
              <a:buNone/>
              <a:defRPr sz="97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780">
                <a:solidFill>
                  <a:srgbClr val="161616"/>
                </a:solidFill>
                <a:latin typeface="Arial"/>
                <a:ea typeface="Arial"/>
                <a:cs typeface="Arial"/>
              </a:rPr>
              <a:t>lastOrder</a:t>
            </a: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61812ED5-6CEB-411E-804A-BDD19B30FC2F}"/>
              </a:ext>
            </a:extLst>
          </p:cNvPr>
          <p:cNvSpPr>
            <a:spLocks noGrp="1"/>
          </p:cNvSpPr>
          <p:nvPr/>
        </p:nvSpPr>
        <p:spPr>
          <a:xfrm>
            <a:off x="10058400" y="1943100"/>
            <a:ext cx="1927860" cy="2316480"/>
          </a:xfrm>
          <a:prstGeom prst="roundRect">
            <a:avLst>
              <a:gd name="adj" fmla="val 4743"/>
            </a:avLst>
          </a:prstGeom>
          <a:solidFill>
            <a:srgbClr val="F7F9FC"/>
          </a:solidFill>
          <a:ln w="17145">
            <a:solidFill>
              <a:srgbClr val="D5DE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 sz="1440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6BF6C55D-1414-4FC8-ADC5-BF9702BCECB1}"/>
              </a:ext>
            </a:extLst>
          </p:cNvPr>
          <p:cNvSpPr>
            <a:spLocks noGrp="1"/>
          </p:cNvSpPr>
          <p:nvPr/>
        </p:nvSpPr>
        <p:spPr>
          <a:xfrm>
            <a:off x="10210800" y="2141220"/>
            <a:ext cx="274320" cy="274320"/>
          </a:xfrm>
          <a:prstGeom prst="ellipse">
            <a:avLst/>
          </a:prstGeom>
          <a:solidFill>
            <a:srgbClr val="082B55"/>
          </a:solidFill>
          <a:ln w="0">
            <a:solidFill>
              <a:srgbClr val="082B55"/>
            </a:solidFill>
            <a:prstDash val="solid"/>
          </a:ln>
        </p:spPr>
        <p:txBody>
          <a:bodyPr/>
          <a:lstStyle/>
          <a:p>
            <a:endParaRPr lang="LID4096" sz="144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AAEAFE7-F14F-4CB4-AFA8-15F212D512D5}"/>
              </a:ext>
            </a:extLst>
          </p:cNvPr>
          <p:cNvSpPr>
            <a:spLocks noGrp="1"/>
          </p:cNvSpPr>
          <p:nvPr/>
        </p:nvSpPr>
        <p:spPr>
          <a:xfrm>
            <a:off x="10218420" y="2133600"/>
            <a:ext cx="259080" cy="2895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4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AC47345C-3716-4821-8F3C-CE04FD2358C6}"/>
              </a:ext>
            </a:extLst>
          </p:cNvPr>
          <p:cNvSpPr>
            <a:spLocks noGrp="1"/>
          </p:cNvSpPr>
          <p:nvPr/>
        </p:nvSpPr>
        <p:spPr>
          <a:xfrm>
            <a:off x="10607040" y="2125980"/>
            <a:ext cx="14097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5720" tIns="30480" rIns="45720" bIns="1524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7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020">
                <a:solidFill>
                  <a:srgbClr val="161616"/>
                </a:solidFill>
                <a:latin typeface="Arial"/>
                <a:ea typeface="Arial"/>
                <a:cs typeface="Arial"/>
              </a:rPr>
              <a:t>QuizGame is the</a:t>
            </a:r>
          </a:p>
          <a:p>
            <a:pPr algn="l">
              <a:lnSpc>
                <a:spcPct val="102000"/>
              </a:lnSpc>
              <a:buNone/>
              <a:defRPr sz="127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020">
                <a:solidFill>
                  <a:srgbClr val="161616"/>
                </a:solidFill>
                <a:latin typeface="Arial"/>
                <a:ea typeface="Arial"/>
                <a:cs typeface="Arial"/>
              </a:rPr>
              <a:t>controller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4DCF46B4-8656-4458-821D-C06665E4805D}"/>
              </a:ext>
            </a:extLst>
          </p:cNvPr>
          <p:cNvSpPr>
            <a:spLocks noGrp="1"/>
          </p:cNvSpPr>
          <p:nvPr/>
        </p:nvSpPr>
        <p:spPr>
          <a:xfrm>
            <a:off x="10210800" y="2743200"/>
            <a:ext cx="274320" cy="274320"/>
          </a:xfrm>
          <a:prstGeom prst="ellipse">
            <a:avLst/>
          </a:prstGeom>
          <a:solidFill>
            <a:srgbClr val="082B55"/>
          </a:solidFill>
          <a:ln w="0">
            <a:solidFill>
              <a:srgbClr val="082B55"/>
            </a:solidFill>
            <a:prstDash val="solid"/>
          </a:ln>
        </p:spPr>
        <p:txBody>
          <a:bodyPr/>
          <a:lstStyle/>
          <a:p>
            <a:endParaRPr lang="LID4096" sz="144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6D0D45C-2A10-4C3F-AF56-18A077619E35}"/>
              </a:ext>
            </a:extLst>
          </p:cNvPr>
          <p:cNvSpPr>
            <a:spLocks noGrp="1"/>
          </p:cNvSpPr>
          <p:nvPr/>
        </p:nvSpPr>
        <p:spPr>
          <a:xfrm>
            <a:off x="10218420" y="2735580"/>
            <a:ext cx="259080" cy="2895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4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F75ACBA1-91CE-46E0-85FD-400008647DDC}"/>
              </a:ext>
            </a:extLst>
          </p:cNvPr>
          <p:cNvSpPr>
            <a:spLocks noGrp="1"/>
          </p:cNvSpPr>
          <p:nvPr/>
        </p:nvSpPr>
        <p:spPr>
          <a:xfrm>
            <a:off x="10607040" y="2727960"/>
            <a:ext cx="1447800" cy="5791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5720" tIns="30480" rIns="45720" bIns="1524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960">
                <a:solidFill>
                  <a:srgbClr val="161616"/>
                </a:solidFill>
                <a:latin typeface="Arial"/>
                <a:ea typeface="Arial"/>
                <a:cs typeface="Arial"/>
              </a:rPr>
              <a:t>Question hierarchy</a:t>
            </a:r>
          </a:p>
          <a:p>
            <a:pPr algn="l">
              <a:lnSpc>
                <a:spcPct val="102000"/>
              </a:lnSpc>
              <a:buNone/>
              <a:defRPr sz="120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960">
                <a:solidFill>
                  <a:srgbClr val="161616"/>
                </a:solidFill>
                <a:latin typeface="Arial"/>
                <a:ea typeface="Arial"/>
                <a:cs typeface="Arial"/>
              </a:rPr>
              <a:t>enables</a:t>
            </a:r>
          </a:p>
          <a:p>
            <a:pPr algn="l">
              <a:lnSpc>
                <a:spcPct val="102000"/>
              </a:lnSpc>
              <a:buNone/>
              <a:defRPr sz="120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960">
                <a:solidFill>
                  <a:srgbClr val="161616"/>
                </a:solidFill>
                <a:latin typeface="Arial"/>
                <a:ea typeface="Arial"/>
                <a:cs typeface="Arial"/>
              </a:rPr>
              <a:t>polymorphism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159B80C8-DA19-41FA-81F8-411420C56470}"/>
              </a:ext>
            </a:extLst>
          </p:cNvPr>
          <p:cNvSpPr>
            <a:spLocks noGrp="1"/>
          </p:cNvSpPr>
          <p:nvPr/>
        </p:nvSpPr>
        <p:spPr>
          <a:xfrm>
            <a:off x="10210800" y="3528060"/>
            <a:ext cx="274320" cy="274320"/>
          </a:xfrm>
          <a:prstGeom prst="ellipse">
            <a:avLst/>
          </a:prstGeom>
          <a:solidFill>
            <a:srgbClr val="082B55"/>
          </a:solidFill>
          <a:ln w="0">
            <a:solidFill>
              <a:srgbClr val="082B55"/>
            </a:solidFill>
            <a:prstDash val="solid"/>
          </a:ln>
        </p:spPr>
        <p:txBody>
          <a:bodyPr/>
          <a:lstStyle/>
          <a:p>
            <a:endParaRPr lang="LID4096" sz="144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E9FE8E07-0E4A-4C7E-92CD-C84E0579CE7A}"/>
              </a:ext>
            </a:extLst>
          </p:cNvPr>
          <p:cNvSpPr>
            <a:spLocks noGrp="1"/>
          </p:cNvSpPr>
          <p:nvPr/>
        </p:nvSpPr>
        <p:spPr>
          <a:xfrm>
            <a:off x="10218420" y="3520440"/>
            <a:ext cx="259080" cy="2895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4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555A0FB9-8E52-4769-8C33-6C1A5A2BFD77}"/>
              </a:ext>
            </a:extLst>
          </p:cNvPr>
          <p:cNvSpPr>
            <a:spLocks noGrp="1"/>
          </p:cNvSpPr>
          <p:nvPr/>
        </p:nvSpPr>
        <p:spPr>
          <a:xfrm>
            <a:off x="10607040" y="3512820"/>
            <a:ext cx="1447800" cy="5791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5720" tIns="30480" rIns="45720" bIns="1524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960">
                <a:solidFill>
                  <a:srgbClr val="161616"/>
                </a:solidFill>
                <a:latin typeface="Arial"/>
                <a:ea typeface="Arial"/>
                <a:cs typeface="Arial"/>
              </a:rPr>
              <a:t>SaveManager and</a:t>
            </a:r>
          </a:p>
          <a:p>
            <a:pPr algn="l">
              <a:lnSpc>
                <a:spcPct val="102000"/>
              </a:lnSpc>
              <a:buNone/>
              <a:defRPr sz="120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960">
                <a:solidFill>
                  <a:srgbClr val="161616"/>
                </a:solidFill>
                <a:latin typeface="Arial"/>
                <a:ea typeface="Arial"/>
                <a:cs typeface="Arial"/>
              </a:rPr>
              <a:t>ConsoleUI are used,</a:t>
            </a:r>
          </a:p>
          <a:p>
            <a:pPr algn="l">
              <a:lnSpc>
                <a:spcPct val="102000"/>
              </a:lnSpc>
              <a:buNone/>
              <a:defRPr sz="120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960">
                <a:solidFill>
                  <a:srgbClr val="161616"/>
                </a:solidFill>
                <a:latin typeface="Arial"/>
                <a:ea typeface="Arial"/>
                <a:cs typeface="Arial"/>
              </a:rPr>
              <a:t>not owned</a:t>
            </a: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FC481DCB-DD3C-46AF-8833-531EA89174DE}"/>
              </a:ext>
            </a:extLst>
          </p:cNvPr>
          <p:cNvSpPr>
            <a:spLocks noGrp="1"/>
          </p:cNvSpPr>
          <p:nvPr/>
        </p:nvSpPr>
        <p:spPr>
          <a:xfrm>
            <a:off x="10058400" y="4556760"/>
            <a:ext cx="1927860" cy="1432560"/>
          </a:xfrm>
          <a:prstGeom prst="roundRect">
            <a:avLst>
              <a:gd name="adj" fmla="val 6383"/>
            </a:avLst>
          </a:prstGeom>
          <a:solidFill>
            <a:srgbClr val="F7F9FC"/>
          </a:solidFill>
          <a:ln w="17145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LID4096" sz="144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84C86CA6-3563-46D2-B3BE-56890E9E48E8}"/>
              </a:ext>
            </a:extLst>
          </p:cNvPr>
          <p:cNvSpPr>
            <a:spLocks noGrp="1"/>
          </p:cNvSpPr>
          <p:nvPr/>
        </p:nvSpPr>
        <p:spPr>
          <a:xfrm>
            <a:off x="10149840" y="4617720"/>
            <a:ext cx="174498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5720" tIns="30480" rIns="45720" bIns="1524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D5DEE9"/>
                </a:solidFill>
                <a:latin typeface="Arial"/>
                <a:ea typeface="Arial"/>
                <a:cs typeface="Arial"/>
              </a:defRPr>
            </a:pPr>
            <a:r>
              <a:rPr sz="1080" b="1">
                <a:solidFill>
                  <a:srgbClr val="D5DEE9"/>
                </a:solidFill>
                <a:latin typeface="Arial"/>
                <a:ea typeface="Arial"/>
                <a:cs typeface="Arial"/>
              </a:rPr>
              <a:t>Legend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A86DB002-8D68-49F8-B1EF-B564C0D40BE4}"/>
              </a:ext>
            </a:extLst>
          </p:cNvPr>
          <p:cNvSpPr>
            <a:spLocks noGrp="1"/>
          </p:cNvSpPr>
          <p:nvPr/>
        </p:nvSpPr>
        <p:spPr>
          <a:xfrm>
            <a:off x="10576560" y="4922520"/>
            <a:ext cx="27432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5720" tIns="30480" rIns="45720" bIns="1524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100" b="0" i="0">
                <a:solidFill>
                  <a:srgbClr val="2D6B25"/>
                </a:solidFill>
                <a:latin typeface="Arial"/>
                <a:ea typeface="Arial"/>
                <a:cs typeface="Arial"/>
              </a:defRPr>
            </a:pPr>
            <a:endParaRPr sz="1680">
              <a:solidFill>
                <a:srgbClr val="2D6B2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91041A87-8546-4F20-89FE-EE5107EDF19A}"/>
              </a:ext>
            </a:extLst>
          </p:cNvPr>
          <p:cNvSpPr>
            <a:spLocks noGrp="1"/>
          </p:cNvSpPr>
          <p:nvPr/>
        </p:nvSpPr>
        <p:spPr>
          <a:xfrm>
            <a:off x="10911840" y="4945380"/>
            <a:ext cx="952500" cy="243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5720" tIns="30480" rIns="45720" bIns="1524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50" b="0" i="0">
                <a:solidFill>
                  <a:srgbClr val="082B55"/>
                </a:solidFill>
                <a:latin typeface="Arial"/>
                <a:ea typeface="Arial"/>
                <a:cs typeface="Arial"/>
              </a:defRPr>
            </a:pPr>
            <a:r>
              <a:rPr sz="840">
                <a:solidFill>
                  <a:srgbClr val="082B55"/>
                </a:solidFill>
                <a:latin typeface="Arial"/>
                <a:ea typeface="Arial"/>
                <a:cs typeface="Arial"/>
              </a:rPr>
              <a:t>inherits (is-a)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B3D60017-0A69-40BF-ADC6-FF6E2E80DFF7}"/>
              </a:ext>
            </a:extLst>
          </p:cNvPr>
          <p:cNvSpPr>
            <a:spLocks noGrp="1"/>
          </p:cNvSpPr>
          <p:nvPr/>
        </p:nvSpPr>
        <p:spPr>
          <a:xfrm>
            <a:off x="10607040" y="5288280"/>
            <a:ext cx="259080" cy="2895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5720" tIns="30480" rIns="45720" bIns="1524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6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endParaRPr sz="132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2F9A0E90-5EE6-4289-ADFE-BBF69B844E3D}"/>
              </a:ext>
            </a:extLst>
          </p:cNvPr>
          <p:cNvSpPr>
            <a:spLocks noGrp="1"/>
          </p:cNvSpPr>
          <p:nvPr/>
        </p:nvSpPr>
        <p:spPr>
          <a:xfrm>
            <a:off x="10911840" y="5295900"/>
            <a:ext cx="990600" cy="259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5720" tIns="30480" rIns="45720" bIns="1524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0" i="0">
                <a:solidFill>
                  <a:srgbClr val="082B55"/>
                </a:solidFill>
                <a:latin typeface="Arial"/>
                <a:ea typeface="Arial"/>
                <a:cs typeface="Arial"/>
              </a:defRPr>
            </a:pPr>
            <a:r>
              <a:rPr sz="780">
                <a:solidFill>
                  <a:srgbClr val="082B55"/>
                </a:solidFill>
                <a:latin typeface="Arial"/>
                <a:ea typeface="Arial"/>
                <a:cs typeface="Arial"/>
              </a:rPr>
              <a:t>has-a (composition)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0E464B82-1684-4928-B6E7-FED64E377C66}"/>
              </a:ext>
            </a:extLst>
          </p:cNvPr>
          <p:cNvSpPr>
            <a:spLocks noGrp="1"/>
          </p:cNvSpPr>
          <p:nvPr/>
        </p:nvSpPr>
        <p:spPr>
          <a:xfrm>
            <a:off x="10591800" y="5631180"/>
            <a:ext cx="27432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5720" tIns="30480" rIns="45720" bIns="1524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1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endParaRPr sz="168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51A83E7C-260B-4E9E-81CA-A17DBFD76B88}"/>
              </a:ext>
            </a:extLst>
          </p:cNvPr>
          <p:cNvSpPr>
            <a:spLocks noGrp="1"/>
          </p:cNvSpPr>
          <p:nvPr/>
        </p:nvSpPr>
        <p:spPr>
          <a:xfrm>
            <a:off x="10911840" y="5646420"/>
            <a:ext cx="975360" cy="259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5720" tIns="30480" rIns="45720" bIns="1524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0" i="0">
                <a:solidFill>
                  <a:srgbClr val="082B55"/>
                </a:solidFill>
                <a:latin typeface="Arial"/>
                <a:ea typeface="Arial"/>
                <a:cs typeface="Arial"/>
              </a:defRPr>
            </a:pPr>
            <a:r>
              <a:rPr sz="780">
                <a:solidFill>
                  <a:srgbClr val="082B55"/>
                </a:solidFill>
                <a:latin typeface="Arial"/>
                <a:ea typeface="Arial"/>
                <a:cs typeface="Arial"/>
              </a:rPr>
              <a:t>uses (dependency)</a:t>
            </a:r>
          </a:p>
        </p:txBody>
      </p:sp>
      <p:cxnSp>
        <p:nvCxnSpPr>
          <p:cNvPr id="107" name="Connector: Elbow 106">
            <a:extLst>
              <a:ext uri="{FF2B5EF4-FFF2-40B4-BE49-F238E27FC236}">
                <a16:creationId xmlns:a16="http://schemas.microsoft.com/office/drawing/2014/main" id="{92FA4788-BCCD-D6B6-5C39-DEC733FF287A}"/>
              </a:ext>
            </a:extLst>
          </p:cNvPr>
          <p:cNvCxnSpPr>
            <a:cxnSpLocks/>
            <a:stCxn id="16" idx="0"/>
            <a:endCxn id="8" idx="2"/>
          </p:cNvCxnSpPr>
          <p:nvPr/>
        </p:nvCxnSpPr>
        <p:spPr>
          <a:xfrm rot="16200000" flipV="1">
            <a:off x="2049780" y="3528060"/>
            <a:ext cx="609600" cy="929640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9" name="Connector: Elbow 108">
            <a:extLst>
              <a:ext uri="{FF2B5EF4-FFF2-40B4-BE49-F238E27FC236}">
                <a16:creationId xmlns:a16="http://schemas.microsoft.com/office/drawing/2014/main" id="{80C2287A-7907-2327-78E7-4A2B20DF1248}"/>
              </a:ext>
            </a:extLst>
          </p:cNvPr>
          <p:cNvCxnSpPr>
            <a:cxnSpLocks/>
            <a:stCxn id="12" idx="0"/>
            <a:endCxn id="8" idx="2"/>
          </p:cNvCxnSpPr>
          <p:nvPr/>
        </p:nvCxnSpPr>
        <p:spPr>
          <a:xfrm rot="5400000" flipH="1" flipV="1">
            <a:off x="1135380" y="3543300"/>
            <a:ext cx="609600" cy="89916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6" name="Connector: Elbow 115">
            <a:extLst>
              <a:ext uri="{FF2B5EF4-FFF2-40B4-BE49-F238E27FC236}">
                <a16:creationId xmlns:a16="http://schemas.microsoft.com/office/drawing/2014/main" id="{560F9025-30A9-F445-FCFF-854CF70C89F8}"/>
              </a:ext>
            </a:extLst>
          </p:cNvPr>
          <p:cNvCxnSpPr>
            <a:cxnSpLocks/>
            <a:stCxn id="53" idx="0"/>
            <a:endCxn id="26" idx="2"/>
          </p:cNvCxnSpPr>
          <p:nvPr/>
        </p:nvCxnSpPr>
        <p:spPr>
          <a:xfrm rot="5400000" flipH="1" flipV="1">
            <a:off x="4015740" y="3558540"/>
            <a:ext cx="1478280" cy="2087880"/>
          </a:xfrm>
          <a:prstGeom prst="bentConnector3">
            <a:avLst>
              <a:gd name="adj1" fmla="val 50000"/>
            </a:avLst>
          </a:prstGeom>
          <a:ln>
            <a:solidFill>
              <a:schemeClr val="accent1">
                <a:lumMod val="40000"/>
                <a:lumOff val="60000"/>
              </a:schemeClr>
            </a:solidFill>
            <a:headEnd type="none"/>
            <a:tailEnd type="diamond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5" name="Connector: Elbow 124">
            <a:extLst>
              <a:ext uri="{FF2B5EF4-FFF2-40B4-BE49-F238E27FC236}">
                <a16:creationId xmlns:a16="http://schemas.microsoft.com/office/drawing/2014/main" id="{025D72E7-0665-3DC8-6CDD-EA5CA9C4AC1E}"/>
              </a:ext>
            </a:extLst>
          </p:cNvPr>
          <p:cNvCxnSpPr/>
          <p:nvPr/>
        </p:nvCxnSpPr>
        <p:spPr>
          <a:xfrm rot="5400000">
            <a:off x="2868931" y="3288030"/>
            <a:ext cx="22860" cy="1524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D57F5858-4C5A-CB0E-24B2-21B555105E5D}"/>
              </a:ext>
            </a:extLst>
          </p:cNvPr>
          <p:cNvCxnSpPr>
            <a:cxnSpLocks/>
            <a:stCxn id="26" idx="3"/>
            <a:endCxn id="34" idx="1"/>
          </p:cNvCxnSpPr>
          <p:nvPr/>
        </p:nvCxnSpPr>
        <p:spPr>
          <a:xfrm flipV="1">
            <a:off x="7078980" y="2461260"/>
            <a:ext cx="777240" cy="361950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F14B5985-6ED1-D9E2-BC3A-AA93B7C4D916}"/>
              </a:ext>
            </a:extLst>
          </p:cNvPr>
          <p:cNvCxnSpPr>
            <a:cxnSpLocks/>
            <a:stCxn id="26" idx="3"/>
            <a:endCxn id="38" idx="1"/>
          </p:cNvCxnSpPr>
          <p:nvPr/>
        </p:nvCxnSpPr>
        <p:spPr>
          <a:xfrm>
            <a:off x="7078980" y="2823211"/>
            <a:ext cx="777240" cy="727710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0" name="Connector: Elbow 139">
            <a:extLst>
              <a:ext uri="{FF2B5EF4-FFF2-40B4-BE49-F238E27FC236}">
                <a16:creationId xmlns:a16="http://schemas.microsoft.com/office/drawing/2014/main" id="{A7FBC42E-E82E-A015-AE09-63CAF5A3DAC1}"/>
              </a:ext>
            </a:extLst>
          </p:cNvPr>
          <p:cNvCxnSpPr>
            <a:cxnSpLocks/>
            <a:stCxn id="57" idx="0"/>
            <a:endCxn id="26" idx="2"/>
          </p:cNvCxnSpPr>
          <p:nvPr/>
        </p:nvCxnSpPr>
        <p:spPr>
          <a:xfrm rot="16200000" flipV="1">
            <a:off x="5196840" y="4465320"/>
            <a:ext cx="1478280" cy="274320"/>
          </a:xfrm>
          <a:prstGeom prst="bentConnector3">
            <a:avLst>
              <a:gd name="adj1" fmla="val 50000"/>
            </a:avLst>
          </a:prstGeom>
          <a:ln>
            <a:solidFill>
              <a:schemeClr val="accent1">
                <a:lumMod val="40000"/>
                <a:lumOff val="60000"/>
              </a:schemeClr>
            </a:solidFill>
            <a:headEnd type="none"/>
            <a:tailEnd type="diamond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4" name="Connector: Elbow 143">
            <a:extLst>
              <a:ext uri="{FF2B5EF4-FFF2-40B4-BE49-F238E27FC236}">
                <a16:creationId xmlns:a16="http://schemas.microsoft.com/office/drawing/2014/main" id="{B49D890D-6700-0114-D9DA-0A4F7E77D5FA}"/>
              </a:ext>
            </a:extLst>
          </p:cNvPr>
          <p:cNvCxnSpPr>
            <a:cxnSpLocks/>
            <a:stCxn id="65" idx="1"/>
            <a:endCxn id="57" idx="3"/>
          </p:cNvCxnSpPr>
          <p:nvPr/>
        </p:nvCxnSpPr>
        <p:spPr>
          <a:xfrm rot="10800000">
            <a:off x="7292341" y="5734050"/>
            <a:ext cx="556260" cy="64770"/>
          </a:xfrm>
          <a:prstGeom prst="bentConnector3">
            <a:avLst>
              <a:gd name="adj1" fmla="val 50000"/>
            </a:avLst>
          </a:prstGeom>
          <a:ln>
            <a:solidFill>
              <a:schemeClr val="accent1">
                <a:lumMod val="40000"/>
                <a:lumOff val="60000"/>
              </a:schemeClr>
            </a:solidFill>
            <a:headEnd type="none" w="lg" len="lg"/>
            <a:tailEnd type="diamond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7" name="Connector: Elbow 146">
            <a:extLst>
              <a:ext uri="{FF2B5EF4-FFF2-40B4-BE49-F238E27FC236}">
                <a16:creationId xmlns:a16="http://schemas.microsoft.com/office/drawing/2014/main" id="{1997F31C-69CB-FF40-02E8-C39EDC303B89}"/>
              </a:ext>
            </a:extLst>
          </p:cNvPr>
          <p:cNvCxnSpPr>
            <a:cxnSpLocks/>
            <a:stCxn id="46" idx="0"/>
            <a:endCxn id="38" idx="2"/>
          </p:cNvCxnSpPr>
          <p:nvPr/>
        </p:nvCxnSpPr>
        <p:spPr>
          <a:xfrm rot="16200000" flipV="1">
            <a:off x="8526780" y="4175760"/>
            <a:ext cx="487680" cy="60960"/>
          </a:xfrm>
          <a:prstGeom prst="bentConnector3">
            <a:avLst>
              <a:gd name="adj1" fmla="val 50000"/>
            </a:avLst>
          </a:prstGeom>
          <a:ln>
            <a:solidFill>
              <a:schemeClr val="accent1">
                <a:lumMod val="40000"/>
                <a:lumOff val="60000"/>
              </a:schemeClr>
            </a:solidFill>
            <a:headEnd type="none"/>
            <a:tailEnd type="diamond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6" name="Connector: Elbow 155">
            <a:extLst>
              <a:ext uri="{FF2B5EF4-FFF2-40B4-BE49-F238E27FC236}">
                <a16:creationId xmlns:a16="http://schemas.microsoft.com/office/drawing/2014/main" id="{5D8097B8-C3F4-EC39-7B5A-DDADEF2774BF}"/>
              </a:ext>
            </a:extLst>
          </p:cNvPr>
          <p:cNvCxnSpPr>
            <a:cxnSpLocks/>
          </p:cNvCxnSpPr>
          <p:nvPr/>
        </p:nvCxnSpPr>
        <p:spPr>
          <a:xfrm>
            <a:off x="10309860" y="4930140"/>
            <a:ext cx="541020" cy="160020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9" name="Connector: Elbow 158">
            <a:extLst>
              <a:ext uri="{FF2B5EF4-FFF2-40B4-BE49-F238E27FC236}">
                <a16:creationId xmlns:a16="http://schemas.microsoft.com/office/drawing/2014/main" id="{169E9BDA-0501-2145-BF00-B6F7DFFD7697}"/>
              </a:ext>
            </a:extLst>
          </p:cNvPr>
          <p:cNvCxnSpPr>
            <a:cxnSpLocks/>
          </p:cNvCxnSpPr>
          <p:nvPr/>
        </p:nvCxnSpPr>
        <p:spPr>
          <a:xfrm rot="10800000">
            <a:off x="10370821" y="5295901"/>
            <a:ext cx="480062" cy="175262"/>
          </a:xfrm>
          <a:prstGeom prst="bentConnector3">
            <a:avLst>
              <a:gd name="adj1" fmla="val 50000"/>
            </a:avLst>
          </a:prstGeom>
          <a:ln>
            <a:headEnd type="none"/>
            <a:tailEnd type="diamond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A8B66AFE-14F0-0094-8881-DB895C0BDD80}"/>
              </a:ext>
            </a:extLst>
          </p:cNvPr>
          <p:cNvCxnSpPr>
            <a:cxnSpLocks/>
          </p:cNvCxnSpPr>
          <p:nvPr/>
        </p:nvCxnSpPr>
        <p:spPr>
          <a:xfrm>
            <a:off x="10302240" y="5768340"/>
            <a:ext cx="548640" cy="0"/>
          </a:xfrm>
          <a:prstGeom prst="straightConnector1">
            <a:avLst/>
          </a:prstGeom>
          <a:ln>
            <a:prstDash val="dash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4" name="Connector: Elbow 173">
            <a:extLst>
              <a:ext uri="{FF2B5EF4-FFF2-40B4-BE49-F238E27FC236}">
                <a16:creationId xmlns:a16="http://schemas.microsoft.com/office/drawing/2014/main" id="{26166171-A65D-D0D2-C5B8-A0BFCBB57509}"/>
              </a:ext>
            </a:extLst>
          </p:cNvPr>
          <p:cNvCxnSpPr>
            <a:cxnSpLocks/>
            <a:stCxn id="8" idx="3"/>
            <a:endCxn id="26" idx="1"/>
          </p:cNvCxnSpPr>
          <p:nvPr/>
        </p:nvCxnSpPr>
        <p:spPr>
          <a:xfrm>
            <a:off x="3070860" y="2823210"/>
            <a:ext cx="1447800" cy="10160"/>
          </a:xfrm>
          <a:prstGeom prst="bentConnector3">
            <a:avLst>
              <a:gd name="adj1" fmla="val 50000"/>
            </a:avLst>
          </a:prstGeom>
          <a:ln>
            <a:solidFill>
              <a:schemeClr val="accent1">
                <a:lumMod val="40000"/>
                <a:lumOff val="60000"/>
              </a:schemeClr>
            </a:solidFill>
            <a:headEnd type="none"/>
            <a:tailEnd type="diamond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Shape 0">
            <a:extLst>
              <a:ext uri="{FF2B5EF4-FFF2-40B4-BE49-F238E27FC236}">
                <a16:creationId xmlns:a16="http://schemas.microsoft.com/office/drawing/2014/main" id="{49D2FF46-AAD3-E396-7C31-2F418F96FDA3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5D0BA"/>
          </a:solidFill>
          <a:ln w="12700">
            <a:solidFill>
              <a:srgbClr val="35D0B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1" name="Shape 1">
            <a:extLst>
              <a:ext uri="{FF2B5EF4-FFF2-40B4-BE49-F238E27FC236}">
                <a16:creationId xmlns:a16="http://schemas.microsoft.com/office/drawing/2014/main" id="{69000137-1352-CF8A-0188-9567AB90F638}"/>
              </a:ext>
            </a:extLst>
          </p:cNvPr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FB86B"/>
          </a:solidFill>
          <a:ln w="12700">
            <a:solidFill>
              <a:srgbClr val="FFB86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3" name="Text 15">
            <a:extLst>
              <a:ext uri="{FF2B5EF4-FFF2-40B4-BE49-F238E27FC236}">
                <a16:creationId xmlns:a16="http://schemas.microsoft.com/office/drawing/2014/main" id="{F0843184-2F7D-99F3-78BE-9A077AA6CFC0}"/>
              </a:ext>
            </a:extLst>
          </p:cNvPr>
          <p:cNvSpPr/>
          <p:nvPr/>
        </p:nvSpPr>
        <p:spPr>
          <a:xfrm>
            <a:off x="10058400" y="643737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B9C4D1"/>
                </a:solidFill>
              </a:rPr>
              <a:t>Quiz Arena | OOP C++ Final Project | </a:t>
            </a:r>
            <a:r>
              <a:rPr lang="he-IL" sz="750" dirty="0">
                <a:solidFill>
                  <a:srgbClr val="B9C4D1"/>
                </a:solidFill>
              </a:rPr>
              <a:t>4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727478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DE4C920-24A6-DD6D-F0C7-AB04B8562866}"/>
              </a:ext>
            </a:extLst>
          </p:cNvPr>
          <p:cNvSpPr txBox="1"/>
          <p:nvPr/>
        </p:nvSpPr>
        <p:spPr>
          <a:xfrm>
            <a:off x="54272" y="3059667"/>
            <a:ext cx="397829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F7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Quiz Arena</a:t>
            </a:r>
            <a:r>
              <a:rPr lang="he-IL" sz="4200" b="1" dirty="0">
                <a:solidFill>
                  <a:srgbClr val="F7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4200" b="1" dirty="0">
                <a:solidFill>
                  <a:srgbClr val="F7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UML</a:t>
            </a:r>
            <a:endParaRPr lang="en-US" sz="4200" dirty="0"/>
          </a:p>
        </p:txBody>
      </p:sp>
      <p:sp>
        <p:nvSpPr>
          <p:cNvPr id="10" name="Text 15">
            <a:extLst>
              <a:ext uri="{FF2B5EF4-FFF2-40B4-BE49-F238E27FC236}">
                <a16:creationId xmlns:a16="http://schemas.microsoft.com/office/drawing/2014/main" id="{17D1F329-4685-1B0E-1FA5-DBFDCAE42B57}"/>
              </a:ext>
            </a:extLst>
          </p:cNvPr>
          <p:cNvSpPr/>
          <p:nvPr/>
        </p:nvSpPr>
        <p:spPr>
          <a:xfrm>
            <a:off x="2432370" y="6637087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B9C4D1"/>
                </a:solidFill>
              </a:rPr>
              <a:t>Quiz Arena | OOP C++ Final Project | </a:t>
            </a:r>
            <a:r>
              <a:rPr lang="he-IL" sz="750" dirty="0">
                <a:solidFill>
                  <a:srgbClr val="B9C4D1"/>
                </a:solidFill>
              </a:rPr>
              <a:t>5</a:t>
            </a:r>
            <a:endParaRPr lang="en-US" sz="75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E7F1B8-2E97-9970-7F23-89A068C3BD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9251" y="48131"/>
            <a:ext cx="7968477" cy="6771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451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5D0BA"/>
          </a:solidFill>
          <a:ln w="12700">
            <a:solidFill>
              <a:srgbClr val="35D0B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FB86B"/>
          </a:solidFill>
          <a:ln w="12700">
            <a:solidFill>
              <a:srgbClr val="FFB86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566928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7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structure?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508760"/>
            <a:ext cx="2057400" cy="640080"/>
          </a:xfrm>
          <a:prstGeom prst="roundRect">
            <a:avLst>
              <a:gd name="adj" fmla="val 11429"/>
            </a:avLst>
          </a:prstGeom>
          <a:solidFill>
            <a:srgbClr val="1F2E44"/>
          </a:solidFill>
          <a:ln w="15240">
            <a:solidFill>
              <a:srgbClr val="35D0B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7F8FB"/>
                </a:solidFill>
              </a:rPr>
              <a:t>Abstraction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3317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>
                <a:solidFill>
                  <a:schemeClr val="bg2">
                    <a:lumMod val="40000"/>
                    <a:lumOff val="60000"/>
                  </a:schemeClr>
                </a:solidFill>
              </a:rPr>
              <a:t>Question defines the common interface, while each derived class implements its own answer behavior.</a:t>
            </a:r>
          </a:p>
        </p:txBody>
      </p:sp>
      <p:sp>
        <p:nvSpPr>
          <p:cNvPr id="8" name="Text 6"/>
          <p:cNvSpPr/>
          <p:nvPr/>
        </p:nvSpPr>
        <p:spPr>
          <a:xfrm>
            <a:off x="3611431" y="1508760"/>
            <a:ext cx="2057400" cy="640080"/>
          </a:xfrm>
          <a:prstGeom prst="roundRect">
            <a:avLst>
              <a:gd name="adj" fmla="val 11429"/>
            </a:avLst>
          </a:prstGeom>
          <a:solidFill>
            <a:srgbClr val="1F2E44"/>
          </a:solidFill>
          <a:ln w="15240">
            <a:solidFill>
              <a:srgbClr val="7CA7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7F8FB"/>
                </a:solidFill>
              </a:rPr>
              <a:t>Polymorphism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151" y="23317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err="1">
                <a:solidFill>
                  <a:schemeClr val="bg2">
                    <a:lumMod val="40000"/>
                    <a:lumOff val="60000"/>
                  </a:schemeClr>
                </a:solidFill>
              </a:rPr>
              <a:t>QuizGame</a:t>
            </a:r>
            <a:r>
              <a:rPr lang="en-US" sz="1400" b="1">
                <a:solidFill>
                  <a:schemeClr val="bg2">
                    <a:lumMod val="40000"/>
                    <a:lumOff val="60000"/>
                  </a:schemeClr>
                </a:solidFill>
              </a:rPr>
              <a:t> stores all question types together as Question* and calls virtual functions.</a:t>
            </a:r>
          </a:p>
        </p:txBody>
      </p:sp>
      <p:sp>
        <p:nvSpPr>
          <p:cNvPr id="10" name="Text 8"/>
          <p:cNvSpPr/>
          <p:nvPr/>
        </p:nvSpPr>
        <p:spPr>
          <a:xfrm>
            <a:off x="6400800" y="1508760"/>
            <a:ext cx="2057400" cy="640080"/>
          </a:xfrm>
          <a:prstGeom prst="roundRect">
            <a:avLst>
              <a:gd name="adj" fmla="val 11429"/>
            </a:avLst>
          </a:prstGeom>
          <a:solidFill>
            <a:srgbClr val="1F2E44"/>
          </a:solidFill>
          <a:ln w="15240">
            <a:solidFill>
              <a:srgbClr val="7BD88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7F8FB"/>
                </a:solidFill>
              </a:rPr>
              <a:t>Separation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1698" y="2332682"/>
            <a:ext cx="2221255" cy="92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400" b="1" err="1">
                <a:solidFill>
                  <a:schemeClr val="bg2">
                    <a:lumMod val="40000"/>
                    <a:lumOff val="60000"/>
                  </a:schemeClr>
                </a:solidFill>
              </a:rPr>
              <a:t>ConsoleUI</a:t>
            </a:r>
            <a:r>
              <a:rPr lang="en-US" sz="1400" b="1">
                <a:solidFill>
                  <a:schemeClr val="bg2">
                    <a:lumMod val="40000"/>
                    <a:lumOff val="60000"/>
                  </a:schemeClr>
                </a:solidFill>
              </a:rPr>
              <a:t> handles input/output; </a:t>
            </a:r>
            <a:r>
              <a:rPr lang="en-US" sz="1400" b="1" err="1">
                <a:solidFill>
                  <a:schemeClr val="bg2">
                    <a:lumMod val="40000"/>
                    <a:lumOff val="60000"/>
                  </a:schemeClr>
                </a:solidFill>
              </a:rPr>
              <a:t>QuizGame</a:t>
            </a:r>
            <a:r>
              <a:rPr lang="en-US" sz="1400" b="1">
                <a:solidFill>
                  <a:schemeClr val="bg2">
                    <a:lumMod val="40000"/>
                    <a:lumOff val="60000"/>
                  </a:schemeClr>
                </a:solidFill>
              </a:rPr>
              <a:t> controls rules and flow; </a:t>
            </a:r>
          </a:p>
          <a:p>
            <a:r>
              <a:rPr lang="en-US" sz="1400" b="1" err="1">
                <a:solidFill>
                  <a:schemeClr val="bg2">
                    <a:lumMod val="40000"/>
                    <a:lumOff val="60000"/>
                  </a:schemeClr>
                </a:solidFill>
              </a:rPr>
              <a:t>SaveManager</a:t>
            </a:r>
            <a:r>
              <a:rPr lang="en-US" sz="1400" b="1">
                <a:solidFill>
                  <a:schemeClr val="bg2">
                    <a:lumMod val="40000"/>
                    <a:lumOff val="60000"/>
                  </a:schemeClr>
                </a:solidFill>
              </a:rPr>
              <a:t> handles saving and loading.</a:t>
            </a:r>
          </a:p>
        </p:txBody>
      </p:sp>
      <p:sp>
        <p:nvSpPr>
          <p:cNvPr id="17" name="Text 15"/>
          <p:cNvSpPr/>
          <p:nvPr/>
        </p:nvSpPr>
        <p:spPr>
          <a:xfrm>
            <a:off x="9326880" y="6437376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B9C4D1"/>
                </a:solidFill>
              </a:rPr>
              <a:t>Quiz Arena | OOP C++ Final Project | </a:t>
            </a:r>
            <a:r>
              <a:rPr lang="he-IL" sz="750" dirty="0">
                <a:solidFill>
                  <a:srgbClr val="B9C4D1"/>
                </a:solidFill>
              </a:rPr>
              <a:t>6</a:t>
            </a:r>
            <a:endParaRPr lang="en-US" sz="750" dirty="0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8797EED5-3A7B-FDD6-91E9-5F77286A5C42}"/>
              </a:ext>
            </a:extLst>
          </p:cNvPr>
          <p:cNvSpPr/>
          <p:nvPr/>
        </p:nvSpPr>
        <p:spPr>
          <a:xfrm>
            <a:off x="9131299" y="1508759"/>
            <a:ext cx="2057400" cy="640080"/>
          </a:xfrm>
          <a:prstGeom prst="roundRect">
            <a:avLst>
              <a:gd name="adj" fmla="val 11429"/>
            </a:avLst>
          </a:prstGeom>
          <a:solidFill>
            <a:srgbClr val="1F2E44"/>
          </a:solidFill>
          <a:ln w="15240">
            <a:solidFill>
              <a:srgbClr val="FF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err="1">
                <a:solidFill>
                  <a:srgbClr val="F7F8FB"/>
                </a:solidFill>
              </a:rPr>
              <a:t>Encapsulat</a:t>
            </a:r>
            <a:r>
              <a:rPr lang="en-US" sz="1700" b="1">
                <a:solidFill>
                  <a:srgbClr val="F7F8FB"/>
                </a:solidFill>
              </a:rPr>
              <a:t>ion</a:t>
            </a:r>
            <a:endParaRPr lang="he-IL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FC59D069-EA49-8E65-A257-523BA087DB64}"/>
              </a:ext>
            </a:extLst>
          </p:cNvPr>
          <p:cNvSpPr/>
          <p:nvPr/>
        </p:nvSpPr>
        <p:spPr>
          <a:xfrm>
            <a:off x="9132197" y="2638636"/>
            <a:ext cx="2263588" cy="92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af-ZA" sz="1400" b="1">
                <a:solidFill>
                  <a:schemeClr val="bg2">
                    <a:lumMod val="40000"/>
                    <a:lumOff val="60000"/>
                  </a:schemeClr>
                </a:solidFill>
              </a:rPr>
              <a:t>All class data members are private, except Question’s shared members, which are protected so the derived question classes can access them. This prevents unrelated classes from changing data directly.</a:t>
            </a:r>
            <a:endParaRPr lang="en-US" sz="1400" b="1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5D0BA"/>
          </a:solidFill>
          <a:ln w="12700">
            <a:solidFill>
              <a:srgbClr val="35D0B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FB86B"/>
          </a:solidFill>
          <a:ln w="12700">
            <a:solidFill>
              <a:srgbClr val="FFB86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566928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7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STL containers and data ownership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B9C4D1"/>
                </a:solidFill>
              </a:rPr>
              <a:t>Different containers were chosen based on how each part of the game is accessed.</a:t>
            </a:r>
            <a:endParaRPr lang="en-US" sz="1400" b="1"/>
          </a:p>
        </p:txBody>
      </p:sp>
      <p:sp>
        <p:nvSpPr>
          <p:cNvPr id="6" name="Text 4"/>
          <p:cNvSpPr/>
          <p:nvPr/>
        </p:nvSpPr>
        <p:spPr>
          <a:xfrm>
            <a:off x="868680" y="150876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1F2E44"/>
          </a:solidFill>
          <a:ln w="15240">
            <a:solidFill>
              <a:srgbClr val="35D0B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7F8FB"/>
                </a:solidFill>
              </a:rPr>
              <a:t>vector&lt;Question*&gt;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96112" y="2331720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B9C4D1"/>
                </a:solidFill>
              </a:rPr>
              <a:t>Used in QuizGame. Stores base-class pointers to MC and TF questions. QuizGame owns and manually deletes the pointed objects.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09160" y="150876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1F2E44"/>
          </a:solidFill>
          <a:ln w="15240">
            <a:solidFill>
              <a:srgbClr val="7CA7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7F8FB"/>
                </a:solidFill>
              </a:rPr>
              <a:t>vector&lt;SaveSlot&gt;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736592" y="23317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B9C4D1"/>
                </a:solidFill>
              </a:rPr>
              <a:t>Used in SaveManager. Stores complete SaveSlot objects by value. The vector owns them directly.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366760" y="1508760"/>
            <a:ext cx="2971800" cy="640080"/>
          </a:xfrm>
          <a:prstGeom prst="roundRect">
            <a:avLst>
              <a:gd name="adj" fmla="val 11429"/>
            </a:avLst>
          </a:prstGeom>
          <a:solidFill>
            <a:srgbClr val="1F2E44"/>
          </a:solidFill>
          <a:ln w="15240">
            <a:solidFill>
              <a:srgbClr val="B28D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7F8FB"/>
                </a:solidFill>
              </a:rPr>
              <a:t>unordered_map&lt;string, Entry&gt;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394192" y="23317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B9C4D1"/>
                </a:solidFill>
              </a:rPr>
              <a:t>Used in Leaderboard. Player name is the key, so lookup and update by name are direct.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371600" y="4206240"/>
            <a:ext cx="9418320" cy="0"/>
          </a:xfrm>
          <a:prstGeom prst="line">
            <a:avLst/>
          </a:prstGeom>
          <a:solidFill>
            <a:srgbClr val="0B1020">
              <a:alpha val="0"/>
            </a:srgbClr>
          </a:solidFill>
          <a:ln w="15240">
            <a:solidFill>
              <a:srgbClr val="41516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Text 11"/>
          <p:cNvSpPr/>
          <p:nvPr/>
        </p:nvSpPr>
        <p:spPr>
          <a:xfrm>
            <a:off x="960120" y="4709160"/>
            <a:ext cx="2148840" cy="822960"/>
          </a:xfrm>
          <a:prstGeom prst="roundRect">
            <a:avLst>
              <a:gd name="adj" fmla="val 8889"/>
            </a:avLst>
          </a:prstGeom>
          <a:solidFill>
            <a:srgbClr val="182337"/>
          </a:solidFill>
          <a:ln w="15240">
            <a:solidFill>
              <a:srgbClr val="35D0B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F8FB"/>
                </a:solidFill>
              </a:rPr>
              <a:t>Question files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7F8FB"/>
                </a:solidFill>
              </a:rPr>
              <a:t>MC / TF blocks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17720" y="4709160"/>
            <a:ext cx="2148840" cy="822960"/>
          </a:xfrm>
          <a:prstGeom prst="roundRect">
            <a:avLst>
              <a:gd name="adj" fmla="val 8889"/>
            </a:avLst>
          </a:prstGeom>
          <a:solidFill>
            <a:srgbClr val="182337"/>
          </a:solidFill>
          <a:ln w="15240">
            <a:solidFill>
              <a:srgbClr val="7CA7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F8FB"/>
                </a:solidFill>
              </a:rPr>
              <a:t>saves.txt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7F8FB"/>
                </a:solidFill>
              </a:rPr>
              <a:t>per player + per mode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75320" y="4709160"/>
            <a:ext cx="2148840" cy="822960"/>
          </a:xfrm>
          <a:prstGeom prst="roundRect">
            <a:avLst>
              <a:gd name="adj" fmla="val 8889"/>
            </a:avLst>
          </a:prstGeom>
          <a:solidFill>
            <a:srgbClr val="182337"/>
          </a:solidFill>
          <a:ln w="15240">
            <a:solidFill>
              <a:srgbClr val="B28D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F8FB"/>
                </a:solidFill>
              </a:rPr>
              <a:t>leaderboard.txt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7F8FB"/>
                </a:solidFill>
              </a:rPr>
              <a:t>best scores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73168" y="3858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>
                <a:solidFill>
                  <a:srgbClr val="FFB86B"/>
                </a:solidFill>
              </a:rPr>
              <a:t>Files content</a:t>
            </a:r>
            <a:endParaRPr lang="en-US" sz="1500"/>
          </a:p>
        </p:txBody>
      </p:sp>
      <p:sp>
        <p:nvSpPr>
          <p:cNvPr id="17" name="Text 15"/>
          <p:cNvSpPr/>
          <p:nvPr/>
        </p:nvSpPr>
        <p:spPr>
          <a:xfrm>
            <a:off x="9326880" y="6437376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B9C4D1"/>
                </a:solidFill>
              </a:rPr>
              <a:t>Quiz Arena | OOP C++ Final Project | </a:t>
            </a:r>
            <a:r>
              <a:rPr lang="he-IL" sz="750" dirty="0">
                <a:solidFill>
                  <a:srgbClr val="B9C4D1"/>
                </a:solidFill>
              </a:rPr>
              <a:t>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5D0BA"/>
          </a:solidFill>
          <a:ln w="12700">
            <a:solidFill>
              <a:srgbClr val="35D0B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FB86B"/>
          </a:solidFill>
          <a:ln w="12700">
            <a:solidFill>
              <a:srgbClr val="FFB86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566928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7F8FB"/>
                </a:solidFill>
                <a:ea typeface="Aptos Display" pitchFamily="34" charset="-122"/>
                <a:cs typeface="Aptos Display" pitchFamily="34" charset="-120"/>
              </a:rPr>
              <a:t>Live demo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35D0BA"/>
                </a:solidFill>
                <a:ea typeface="Aptos Display" pitchFamily="34" charset="-122"/>
                <a:cs typeface="Aptos Display" pitchFamily="34" charset="-120"/>
              </a:rPr>
              <a:t>DEMO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3566160" y="1367699"/>
            <a:ext cx="2828848" cy="1487693"/>
          </a:xfrm>
          <a:prstGeom prst="roundRect">
            <a:avLst>
              <a:gd name="adj" fmla="val 1905"/>
            </a:avLst>
          </a:prstGeom>
          <a:solidFill>
            <a:srgbClr val="0A0F1A"/>
          </a:solidFill>
          <a:ln w="12700">
            <a:solidFill>
              <a:srgbClr val="41516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7F8FB"/>
                </a:solidFill>
                <a:ea typeface="Cascadia Mono" pitchFamily="34" charset="-122"/>
                <a:cs typeface="Cascadia Mono" pitchFamily="34" charset="-120"/>
              </a:rPr>
              <a:t>&gt; run.bat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7F8FB"/>
                </a:solidFill>
                <a:ea typeface="Cascadia Mono" pitchFamily="34" charset="-122"/>
                <a:cs typeface="Cascadia Mono" pitchFamily="34" charset="-120"/>
              </a:rPr>
              <a:t>1. New Game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7F8FB"/>
                </a:solidFill>
                <a:ea typeface="Cascadia Mono" pitchFamily="34" charset="-122"/>
                <a:cs typeface="Cascadia Mono" pitchFamily="34" charset="-120"/>
              </a:rPr>
              <a:t>2. Saved Games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7F8FB"/>
                </a:solidFill>
                <a:ea typeface="Cascadia Mono" pitchFamily="34" charset="-122"/>
                <a:cs typeface="Cascadia Mono" pitchFamily="34" charset="-120"/>
              </a:rPr>
              <a:t>3. Leaderboard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7F8FB"/>
                </a:solidFill>
                <a:ea typeface="Cascadia Mono" pitchFamily="34" charset="-122"/>
                <a:cs typeface="Cascadia Mono" pitchFamily="34" charset="-120"/>
              </a:rPr>
              <a:t>4. Quit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8680" y="2971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7F8FB"/>
                </a:solidFill>
              </a:rPr>
              <a:t>What we will show: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35661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35D0BA"/>
                </a:solidFill>
              </a:rPr>
              <a:t>• </a:t>
            </a:r>
            <a:r>
              <a:rPr lang="en-US" sz="1700" dirty="0">
                <a:solidFill>
                  <a:srgbClr val="F7F8FB"/>
                </a:solidFill>
              </a:rPr>
              <a:t>Start a new game and choose difficulty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97280" y="40690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35D0BA"/>
                </a:solidFill>
              </a:rPr>
              <a:t>• </a:t>
            </a:r>
            <a:r>
              <a:rPr lang="en-US" sz="1700" dirty="0">
                <a:solidFill>
                  <a:srgbClr val="F7F8FB"/>
                </a:solidFill>
              </a:rPr>
              <a:t>Answer questions and show score/lives changing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97280" y="5053853"/>
            <a:ext cx="28270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35D0BA"/>
                </a:solidFill>
              </a:rPr>
              <a:t>• </a:t>
            </a:r>
            <a:r>
              <a:rPr lang="en-US" sz="1700" dirty="0">
                <a:solidFill>
                  <a:srgbClr val="F7F8FB"/>
                </a:solidFill>
              </a:rPr>
              <a:t>Use 0 to save during a game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97280" y="4570655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700" b="1" dirty="0">
                <a:solidFill>
                  <a:srgbClr val="35D0BA"/>
                </a:solidFill>
              </a:rPr>
              <a:t>• </a:t>
            </a:r>
            <a:r>
              <a:rPr lang="en-US" sz="1700">
                <a:solidFill>
                  <a:srgbClr val="F7F8FB"/>
                </a:solidFill>
              </a:rPr>
              <a:t>Showcase a lose</a:t>
            </a:r>
            <a:endParaRPr lang="en-US" sz="1700"/>
          </a:p>
        </p:txBody>
      </p:sp>
      <p:sp>
        <p:nvSpPr>
          <p:cNvPr id="14" name="Text 12"/>
          <p:cNvSpPr/>
          <p:nvPr/>
        </p:nvSpPr>
        <p:spPr>
          <a:xfrm>
            <a:off x="9326880" y="6437376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B9C4D1"/>
                </a:solidFill>
              </a:rPr>
              <a:t>Quiz Arena | OOP C++ Final Project | </a:t>
            </a:r>
            <a:r>
              <a:rPr lang="he-IL" sz="750" dirty="0">
                <a:solidFill>
                  <a:srgbClr val="B9C4D1"/>
                </a:solidFill>
              </a:rPr>
              <a:t>8</a:t>
            </a:r>
            <a:endParaRPr lang="en-US" sz="75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2F8F8B3F-FBB9-85AD-524D-A9112C420401}"/>
              </a:ext>
            </a:extLst>
          </p:cNvPr>
          <p:cNvSpPr/>
          <p:nvPr/>
        </p:nvSpPr>
        <p:spPr>
          <a:xfrm>
            <a:off x="1097280" y="5567978"/>
            <a:ext cx="35699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35D0BA"/>
                </a:solidFill>
              </a:rPr>
              <a:t>• </a:t>
            </a:r>
            <a:r>
              <a:rPr lang="en-US" sz="1700" dirty="0">
                <a:solidFill>
                  <a:srgbClr val="F7F8FB"/>
                </a:solidFill>
              </a:rPr>
              <a:t>Open saved games and leaderboard</a:t>
            </a:r>
            <a:endParaRPr lang="en-US" sz="1700" dirty="0"/>
          </a:p>
        </p:txBody>
      </p:sp>
      <p:sp>
        <p:nvSpPr>
          <p:cNvPr id="25" name="Text 6">
            <a:hlinkClick r:id="rId3" action="ppaction://hlinkfile"/>
            <a:extLst>
              <a:ext uri="{FF2B5EF4-FFF2-40B4-BE49-F238E27FC236}">
                <a16:creationId xmlns:a16="http://schemas.microsoft.com/office/drawing/2014/main" id="{2271E557-9B87-C70F-7CAC-23A53E859C59}"/>
              </a:ext>
            </a:extLst>
          </p:cNvPr>
          <p:cNvSpPr/>
          <p:nvPr/>
        </p:nvSpPr>
        <p:spPr>
          <a:xfrm>
            <a:off x="7911094" y="2923449"/>
            <a:ext cx="3663850" cy="1097280"/>
          </a:xfrm>
          <a:prstGeom prst="roundRect">
            <a:avLst>
              <a:gd name="adj" fmla="val 11429"/>
            </a:avLst>
          </a:prstGeom>
          <a:solidFill>
            <a:srgbClr val="1F2E44"/>
          </a:solidFill>
          <a:ln w="15240">
            <a:solidFill>
              <a:srgbClr val="7CA7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35D0BA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RUN GAME</a:t>
            </a:r>
            <a:endParaRPr lang="en-US" sz="5400" dirty="0">
              <a:solidFill>
                <a:srgbClr val="35D0BA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5C80F51-21A1-CF85-685B-D53D3D9116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1762" y="90318"/>
            <a:ext cx="6400635" cy="6677364"/>
          </a:xfrm>
          <a:prstGeom prst="rect">
            <a:avLst/>
          </a:prstGeom>
        </p:spPr>
      </p:pic>
      <p:sp>
        <p:nvSpPr>
          <p:cNvPr id="35" name="Text 2">
            <a:extLst>
              <a:ext uri="{FF2B5EF4-FFF2-40B4-BE49-F238E27FC236}">
                <a16:creationId xmlns:a16="http://schemas.microsoft.com/office/drawing/2014/main" id="{E840DE2D-9610-AE40-27D3-5E0FCED5F111}"/>
              </a:ext>
            </a:extLst>
          </p:cNvPr>
          <p:cNvSpPr/>
          <p:nvPr/>
        </p:nvSpPr>
        <p:spPr>
          <a:xfrm>
            <a:off x="236728" y="169672"/>
            <a:ext cx="542112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7F8FB"/>
                </a:solidFill>
                <a:ea typeface="Aptos Display" pitchFamily="34" charset="-122"/>
                <a:cs typeface="+mj-cs"/>
              </a:rPr>
              <a:t>Agentic workflow: prompt log examples</a:t>
            </a:r>
            <a:endParaRPr lang="en-US" sz="2500" dirty="0">
              <a:cs typeface="+mj-cs"/>
            </a:endParaRPr>
          </a:p>
        </p:txBody>
      </p:sp>
      <p:sp>
        <p:nvSpPr>
          <p:cNvPr id="37" name="Text 3">
            <a:extLst>
              <a:ext uri="{FF2B5EF4-FFF2-40B4-BE49-F238E27FC236}">
                <a16:creationId xmlns:a16="http://schemas.microsoft.com/office/drawing/2014/main" id="{DAF014EF-943B-89AB-1772-807AA2E0B8B7}"/>
              </a:ext>
            </a:extLst>
          </p:cNvPr>
          <p:cNvSpPr/>
          <p:nvPr/>
        </p:nvSpPr>
        <p:spPr>
          <a:xfrm>
            <a:off x="420668" y="733507"/>
            <a:ext cx="46389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9C4D1"/>
                </a:solidFill>
                <a:cs typeface="+mj-cs"/>
              </a:rPr>
              <a:t>We used Cursor suggestions critically: accepted, modified, </a:t>
            </a:r>
            <a:endParaRPr lang="he-IL" sz="1400" dirty="0">
              <a:solidFill>
                <a:srgbClr val="B9C4D1"/>
              </a:solidFill>
              <a:cs typeface="+mj-cs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B9C4D1"/>
                </a:solidFill>
                <a:cs typeface="+mj-cs"/>
              </a:rPr>
              <a:t>or rejected based on course rules.</a:t>
            </a:r>
            <a:endParaRPr lang="en-US" sz="1400" dirty="0">
              <a:cs typeface="+mj-cs"/>
            </a:endParaRPr>
          </a:p>
        </p:txBody>
      </p:sp>
      <p:sp>
        <p:nvSpPr>
          <p:cNvPr id="39" name="Text 4">
            <a:extLst>
              <a:ext uri="{FF2B5EF4-FFF2-40B4-BE49-F238E27FC236}">
                <a16:creationId xmlns:a16="http://schemas.microsoft.com/office/drawing/2014/main" id="{F731B447-8D58-18EE-AADF-BE0D9BF059A9}"/>
              </a:ext>
            </a:extLst>
          </p:cNvPr>
          <p:cNvSpPr/>
          <p:nvPr/>
        </p:nvSpPr>
        <p:spPr>
          <a:xfrm>
            <a:off x="416560" y="1647190"/>
            <a:ext cx="2148840" cy="475488"/>
          </a:xfrm>
          <a:prstGeom prst="roundRect">
            <a:avLst>
              <a:gd name="adj" fmla="val 15385"/>
            </a:avLst>
          </a:prstGeom>
          <a:solidFill>
            <a:srgbClr val="1F2E44"/>
          </a:solidFill>
          <a:ln w="15240">
            <a:solidFill>
              <a:srgbClr val="FFB86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F8FB"/>
                </a:solidFill>
                <a:cs typeface="+mj-cs"/>
              </a:rPr>
              <a:t>Cursor suggested</a:t>
            </a:r>
            <a:endParaRPr lang="en-US" sz="1400" dirty="0">
              <a:cs typeface="+mj-cs"/>
            </a:endParaRPr>
          </a:p>
        </p:txBody>
      </p:sp>
      <p:sp>
        <p:nvSpPr>
          <p:cNvPr id="41" name="Text 5">
            <a:extLst>
              <a:ext uri="{FF2B5EF4-FFF2-40B4-BE49-F238E27FC236}">
                <a16:creationId xmlns:a16="http://schemas.microsoft.com/office/drawing/2014/main" id="{9C05690E-D72C-125D-F842-5784C313651E}"/>
              </a:ext>
            </a:extLst>
          </p:cNvPr>
          <p:cNvSpPr/>
          <p:nvPr/>
        </p:nvSpPr>
        <p:spPr>
          <a:xfrm>
            <a:off x="3296920" y="1647190"/>
            <a:ext cx="2148840" cy="475488"/>
          </a:xfrm>
          <a:prstGeom prst="roundRect">
            <a:avLst>
              <a:gd name="adj" fmla="val 15385"/>
            </a:avLst>
          </a:prstGeom>
          <a:solidFill>
            <a:srgbClr val="1F2E44"/>
          </a:solidFill>
          <a:ln w="15240">
            <a:solidFill>
              <a:srgbClr val="FFB86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F8FB"/>
                </a:solidFill>
                <a:cs typeface="+mj-cs"/>
              </a:rPr>
              <a:t>Our decision</a:t>
            </a:r>
            <a:endParaRPr lang="en-US" sz="1400" dirty="0">
              <a:cs typeface="+mj-cs"/>
            </a:endParaRPr>
          </a:p>
        </p:txBody>
      </p:sp>
      <p:sp>
        <p:nvSpPr>
          <p:cNvPr id="43" name="Text 6">
            <a:extLst>
              <a:ext uri="{FF2B5EF4-FFF2-40B4-BE49-F238E27FC236}">
                <a16:creationId xmlns:a16="http://schemas.microsoft.com/office/drawing/2014/main" id="{4267440D-5512-9D08-03D0-89E2C319D530}"/>
              </a:ext>
            </a:extLst>
          </p:cNvPr>
          <p:cNvSpPr/>
          <p:nvPr/>
        </p:nvSpPr>
        <p:spPr>
          <a:xfrm>
            <a:off x="633730" y="3781806"/>
            <a:ext cx="4434840" cy="475488"/>
          </a:xfrm>
          <a:prstGeom prst="roundRect">
            <a:avLst>
              <a:gd name="adj" fmla="val 15385"/>
            </a:avLst>
          </a:prstGeom>
          <a:solidFill>
            <a:srgbClr val="1F2E44"/>
          </a:solidFill>
          <a:ln w="15240">
            <a:solidFill>
              <a:srgbClr val="FFB86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F8FB"/>
                </a:solidFill>
                <a:cs typeface="+mj-cs"/>
              </a:rPr>
              <a:t>Reason</a:t>
            </a:r>
            <a:endParaRPr lang="en-US" sz="1400" dirty="0">
              <a:cs typeface="+mj-cs"/>
            </a:endParaRPr>
          </a:p>
        </p:txBody>
      </p:sp>
      <p:sp>
        <p:nvSpPr>
          <p:cNvPr id="45" name="Shape 7">
            <a:extLst>
              <a:ext uri="{FF2B5EF4-FFF2-40B4-BE49-F238E27FC236}">
                <a16:creationId xmlns:a16="http://schemas.microsoft.com/office/drawing/2014/main" id="{CC8EFFB2-9DEE-A354-48C0-56329747D04E}"/>
              </a:ext>
            </a:extLst>
          </p:cNvPr>
          <p:cNvSpPr/>
          <p:nvPr/>
        </p:nvSpPr>
        <p:spPr>
          <a:xfrm>
            <a:off x="2702560" y="2561590"/>
            <a:ext cx="438912" cy="0"/>
          </a:xfrm>
          <a:prstGeom prst="line">
            <a:avLst/>
          </a:prstGeom>
          <a:solidFill>
            <a:srgbClr val="0B1020">
              <a:alpha val="0"/>
            </a:srgbClr>
          </a:solidFill>
          <a:ln w="15240">
            <a:solidFill>
              <a:srgbClr val="41516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LID4096">
              <a:cs typeface="+mj-cs"/>
            </a:endParaRPr>
          </a:p>
        </p:txBody>
      </p:sp>
      <p:sp>
        <p:nvSpPr>
          <p:cNvPr id="47" name="Shape 8">
            <a:extLst>
              <a:ext uri="{FF2B5EF4-FFF2-40B4-BE49-F238E27FC236}">
                <a16:creationId xmlns:a16="http://schemas.microsoft.com/office/drawing/2014/main" id="{A9398110-8C17-A2E2-F5BF-4C665CC1750C}"/>
              </a:ext>
            </a:extLst>
          </p:cNvPr>
          <p:cNvSpPr/>
          <p:nvPr/>
        </p:nvSpPr>
        <p:spPr>
          <a:xfrm flipH="1">
            <a:off x="2851150" y="3094989"/>
            <a:ext cx="6857" cy="475467"/>
          </a:xfrm>
          <a:prstGeom prst="line">
            <a:avLst/>
          </a:prstGeom>
          <a:solidFill>
            <a:srgbClr val="0B1020">
              <a:alpha val="0"/>
            </a:srgbClr>
          </a:solidFill>
          <a:ln w="15240">
            <a:solidFill>
              <a:srgbClr val="41516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LID4096">
              <a:cs typeface="+mj-cs"/>
            </a:endParaRPr>
          </a:p>
        </p:txBody>
      </p:sp>
      <p:sp>
        <p:nvSpPr>
          <p:cNvPr id="49" name="Text 13">
            <a:extLst>
              <a:ext uri="{FF2B5EF4-FFF2-40B4-BE49-F238E27FC236}">
                <a16:creationId xmlns:a16="http://schemas.microsoft.com/office/drawing/2014/main" id="{3022B38A-1BEB-C8C9-C58A-FB7EBE35DA83}"/>
              </a:ext>
            </a:extLst>
          </p:cNvPr>
          <p:cNvSpPr/>
          <p:nvPr/>
        </p:nvSpPr>
        <p:spPr>
          <a:xfrm>
            <a:off x="416560" y="2241550"/>
            <a:ext cx="2148840" cy="640080"/>
          </a:xfrm>
          <a:prstGeom prst="roundRect">
            <a:avLst>
              <a:gd name="adj" fmla="val 11429"/>
            </a:avLst>
          </a:prstGeom>
          <a:solidFill>
            <a:srgbClr val="182337"/>
          </a:solidFill>
          <a:ln w="15240">
            <a:solidFill>
              <a:srgbClr val="41516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F8FB"/>
                </a:solidFill>
                <a:cs typeface="+mj-cs"/>
              </a:rPr>
              <a:t>Put cout inside</a:t>
            </a:r>
            <a:endParaRPr lang="en-US" sz="1200" dirty="0">
              <a:cs typeface="+mj-cs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7F8FB"/>
                </a:solidFill>
                <a:cs typeface="+mj-cs"/>
              </a:rPr>
              <a:t>Question</a:t>
            </a:r>
            <a:endParaRPr lang="en-US" sz="1200" dirty="0">
              <a:cs typeface="+mj-cs"/>
            </a:endParaRPr>
          </a:p>
        </p:txBody>
      </p:sp>
      <p:sp>
        <p:nvSpPr>
          <p:cNvPr id="51" name="Text 14">
            <a:extLst>
              <a:ext uri="{FF2B5EF4-FFF2-40B4-BE49-F238E27FC236}">
                <a16:creationId xmlns:a16="http://schemas.microsoft.com/office/drawing/2014/main" id="{9F699025-4C87-C6E5-47D5-DF4A6DD14541}"/>
              </a:ext>
            </a:extLst>
          </p:cNvPr>
          <p:cNvSpPr/>
          <p:nvPr/>
        </p:nvSpPr>
        <p:spPr>
          <a:xfrm>
            <a:off x="3296920" y="2241550"/>
            <a:ext cx="2148840" cy="640080"/>
          </a:xfrm>
          <a:prstGeom prst="roundRect">
            <a:avLst>
              <a:gd name="adj" fmla="val 11429"/>
            </a:avLst>
          </a:prstGeom>
          <a:solidFill>
            <a:srgbClr val="351A25"/>
          </a:solidFill>
          <a:ln w="15240">
            <a:solidFill>
              <a:srgbClr val="FF6B6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F8FB"/>
                </a:solidFill>
                <a:cs typeface="+mj-cs"/>
              </a:rPr>
              <a:t>REJECTED</a:t>
            </a:r>
            <a:endParaRPr lang="en-US" sz="1600" dirty="0">
              <a:cs typeface="+mj-cs"/>
            </a:endParaRPr>
          </a:p>
        </p:txBody>
      </p:sp>
      <p:sp>
        <p:nvSpPr>
          <p:cNvPr id="53" name="Text 15">
            <a:extLst>
              <a:ext uri="{FF2B5EF4-FFF2-40B4-BE49-F238E27FC236}">
                <a16:creationId xmlns:a16="http://schemas.microsoft.com/office/drawing/2014/main" id="{8DBF25B7-BEA0-D257-B84E-672EAF49DCD3}"/>
              </a:ext>
            </a:extLst>
          </p:cNvPr>
          <p:cNvSpPr/>
          <p:nvPr/>
        </p:nvSpPr>
        <p:spPr>
          <a:xfrm>
            <a:off x="770890" y="4468644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>
                <a:solidFill>
                  <a:srgbClr val="F7F8FB"/>
                </a:solidFill>
                <a:cs typeface="+mj-cs"/>
              </a:rPr>
              <a:t>Question should store behavior/data only. All input and output stays in </a:t>
            </a:r>
            <a:r>
              <a:rPr lang="en-US" sz="1400" err="1">
                <a:solidFill>
                  <a:srgbClr val="F7F8FB"/>
                </a:solidFill>
                <a:cs typeface="+mj-cs"/>
              </a:rPr>
              <a:t>ConsoleUI</a:t>
            </a:r>
            <a:r>
              <a:rPr lang="en-US" sz="1400">
                <a:solidFill>
                  <a:srgbClr val="F7F8FB"/>
                </a:solidFill>
                <a:cs typeface="+mj-cs"/>
              </a:rPr>
              <a:t>.</a:t>
            </a:r>
            <a:endParaRPr lang="en-US" sz="1400">
              <a:cs typeface="+mj-cs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616DAD1-1B85-E07F-F203-A4D6DA92DB47}"/>
              </a:ext>
            </a:extLst>
          </p:cNvPr>
          <p:cNvSpPr/>
          <p:nvPr/>
        </p:nvSpPr>
        <p:spPr>
          <a:xfrm>
            <a:off x="6934200" y="4468644"/>
            <a:ext cx="4025900" cy="362912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>
              <a:cs typeface="+mj-cs"/>
            </a:endParaRPr>
          </a:p>
        </p:txBody>
      </p:sp>
      <p:sp>
        <p:nvSpPr>
          <p:cNvPr id="60" name="Text 15">
            <a:extLst>
              <a:ext uri="{FF2B5EF4-FFF2-40B4-BE49-F238E27FC236}">
                <a16:creationId xmlns:a16="http://schemas.microsoft.com/office/drawing/2014/main" id="{CA888441-1F2C-0459-5DD5-2E813E4F39A5}"/>
              </a:ext>
            </a:extLst>
          </p:cNvPr>
          <p:cNvSpPr/>
          <p:nvPr/>
        </p:nvSpPr>
        <p:spPr>
          <a:xfrm>
            <a:off x="4038600" y="658480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B9C4D1"/>
                </a:solidFill>
                <a:cs typeface="+mj-cs"/>
              </a:rPr>
              <a:t>Quiz Arena | OOP C++ Final Project | </a:t>
            </a:r>
            <a:r>
              <a:rPr lang="he-IL" sz="750" dirty="0">
                <a:solidFill>
                  <a:srgbClr val="B9C4D1"/>
                </a:solidFill>
                <a:cs typeface="+mj-cs"/>
              </a:rPr>
              <a:t>9</a:t>
            </a:r>
            <a:endParaRPr lang="en-US" sz="75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51260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2">
            <a:extLst>
              <a:ext uri="{FF2B5EF4-FFF2-40B4-BE49-F238E27FC236}">
                <a16:creationId xmlns:a16="http://schemas.microsoft.com/office/drawing/2014/main" id="{1ACDBB00-205C-4B98-98A1-BD42C39D7353}"/>
              </a:ext>
            </a:extLst>
          </p:cNvPr>
          <p:cNvSpPr/>
          <p:nvPr/>
        </p:nvSpPr>
        <p:spPr>
          <a:xfrm>
            <a:off x="236728" y="169672"/>
            <a:ext cx="542112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7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Agentic workflow: prompt log examples</a:t>
            </a:r>
            <a:endParaRPr lang="en-US" sz="2500" dirty="0"/>
          </a:p>
        </p:txBody>
      </p:sp>
      <p:sp>
        <p:nvSpPr>
          <p:cNvPr id="23" name="Text 3">
            <a:extLst>
              <a:ext uri="{FF2B5EF4-FFF2-40B4-BE49-F238E27FC236}">
                <a16:creationId xmlns:a16="http://schemas.microsoft.com/office/drawing/2014/main" id="{6D93D996-1E1D-0A71-13A3-036171A34FFE}"/>
              </a:ext>
            </a:extLst>
          </p:cNvPr>
          <p:cNvSpPr/>
          <p:nvPr/>
        </p:nvSpPr>
        <p:spPr>
          <a:xfrm>
            <a:off x="255016" y="645160"/>
            <a:ext cx="45836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9C4D1"/>
                </a:solidFill>
              </a:rPr>
              <a:t>We used Cursor suggestions critically: accepted, modified, </a:t>
            </a:r>
            <a:endParaRPr lang="he-IL" sz="1400" dirty="0">
              <a:solidFill>
                <a:srgbClr val="B9C4D1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B9C4D1"/>
                </a:solidFill>
              </a:rPr>
              <a:t>or rejected based on course rules.</a:t>
            </a:r>
            <a:endParaRPr lang="en-US" sz="1400" dirty="0"/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EF14DAB5-AC08-DF71-B36A-7F4C4D44ABA8}"/>
              </a:ext>
            </a:extLst>
          </p:cNvPr>
          <p:cNvSpPr/>
          <p:nvPr/>
        </p:nvSpPr>
        <p:spPr>
          <a:xfrm>
            <a:off x="416560" y="1647190"/>
            <a:ext cx="2148840" cy="475488"/>
          </a:xfrm>
          <a:prstGeom prst="roundRect">
            <a:avLst>
              <a:gd name="adj" fmla="val 15385"/>
            </a:avLst>
          </a:prstGeom>
          <a:solidFill>
            <a:srgbClr val="1F2E44"/>
          </a:solidFill>
          <a:ln w="15240">
            <a:solidFill>
              <a:srgbClr val="FFB86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F8FB"/>
                </a:solidFill>
              </a:rPr>
              <a:t>Cursor suggested</a:t>
            </a:r>
            <a:endParaRPr lang="en-US" sz="1400" dirty="0"/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FE25EC13-4E90-CBF6-6D18-9D18A9E61553}"/>
              </a:ext>
            </a:extLst>
          </p:cNvPr>
          <p:cNvSpPr/>
          <p:nvPr/>
        </p:nvSpPr>
        <p:spPr>
          <a:xfrm>
            <a:off x="3296920" y="1647190"/>
            <a:ext cx="2148840" cy="475488"/>
          </a:xfrm>
          <a:prstGeom prst="roundRect">
            <a:avLst>
              <a:gd name="adj" fmla="val 15385"/>
            </a:avLst>
          </a:prstGeom>
          <a:solidFill>
            <a:srgbClr val="1F2E44"/>
          </a:solidFill>
          <a:ln w="15240">
            <a:solidFill>
              <a:srgbClr val="FFB86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F8FB"/>
                </a:solidFill>
              </a:rPr>
              <a:t>Our decision</a:t>
            </a:r>
            <a:endParaRPr lang="en-US" sz="1400" dirty="0"/>
          </a:p>
        </p:txBody>
      </p:sp>
      <p:sp>
        <p:nvSpPr>
          <p:cNvPr id="29" name="Text 6">
            <a:extLst>
              <a:ext uri="{FF2B5EF4-FFF2-40B4-BE49-F238E27FC236}">
                <a16:creationId xmlns:a16="http://schemas.microsoft.com/office/drawing/2014/main" id="{41C09A0F-34D8-B0D6-802F-F61A9E9E4A01}"/>
              </a:ext>
            </a:extLst>
          </p:cNvPr>
          <p:cNvSpPr/>
          <p:nvPr/>
        </p:nvSpPr>
        <p:spPr>
          <a:xfrm>
            <a:off x="633730" y="3781806"/>
            <a:ext cx="4434840" cy="475488"/>
          </a:xfrm>
          <a:prstGeom prst="roundRect">
            <a:avLst>
              <a:gd name="adj" fmla="val 15385"/>
            </a:avLst>
          </a:prstGeom>
          <a:solidFill>
            <a:srgbClr val="1F2E44"/>
          </a:solidFill>
          <a:ln w="15240">
            <a:solidFill>
              <a:srgbClr val="FFB86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F8FB"/>
                </a:solidFill>
              </a:rPr>
              <a:t>Reason</a:t>
            </a:r>
            <a:endParaRPr lang="en-US" sz="1400" dirty="0"/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2855289C-0755-3100-A8DF-DA1AC9DE790F}"/>
              </a:ext>
            </a:extLst>
          </p:cNvPr>
          <p:cNvSpPr/>
          <p:nvPr/>
        </p:nvSpPr>
        <p:spPr>
          <a:xfrm>
            <a:off x="2702560" y="2561590"/>
            <a:ext cx="438912" cy="0"/>
          </a:xfrm>
          <a:prstGeom prst="line">
            <a:avLst/>
          </a:prstGeom>
          <a:solidFill>
            <a:srgbClr val="0B1020">
              <a:alpha val="0"/>
            </a:srgbClr>
          </a:solidFill>
          <a:ln w="15240">
            <a:solidFill>
              <a:srgbClr val="41516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LID4096"/>
          </a:p>
        </p:txBody>
      </p:sp>
      <p:sp>
        <p:nvSpPr>
          <p:cNvPr id="33" name="Shape 8">
            <a:extLst>
              <a:ext uri="{FF2B5EF4-FFF2-40B4-BE49-F238E27FC236}">
                <a16:creationId xmlns:a16="http://schemas.microsoft.com/office/drawing/2014/main" id="{767CF870-F0A5-2D96-0161-3C52955CF4CA}"/>
              </a:ext>
            </a:extLst>
          </p:cNvPr>
          <p:cNvSpPr/>
          <p:nvPr/>
        </p:nvSpPr>
        <p:spPr>
          <a:xfrm flipH="1">
            <a:off x="2851150" y="3094989"/>
            <a:ext cx="6857" cy="475467"/>
          </a:xfrm>
          <a:prstGeom prst="line">
            <a:avLst/>
          </a:prstGeom>
          <a:solidFill>
            <a:srgbClr val="0B1020">
              <a:alpha val="0"/>
            </a:srgbClr>
          </a:solidFill>
          <a:ln w="15240">
            <a:solidFill>
              <a:srgbClr val="41516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LID4096"/>
          </a:p>
        </p:txBody>
      </p:sp>
      <p:sp>
        <p:nvSpPr>
          <p:cNvPr id="41" name="Text 20">
            <a:extLst>
              <a:ext uri="{FF2B5EF4-FFF2-40B4-BE49-F238E27FC236}">
                <a16:creationId xmlns:a16="http://schemas.microsoft.com/office/drawing/2014/main" id="{AC0AFFFF-EDC4-FBEF-AF94-EF4B5CFBB2DA}"/>
              </a:ext>
            </a:extLst>
          </p:cNvPr>
          <p:cNvSpPr/>
          <p:nvPr/>
        </p:nvSpPr>
        <p:spPr>
          <a:xfrm>
            <a:off x="3278632" y="2263924"/>
            <a:ext cx="2148840" cy="640080"/>
          </a:xfrm>
          <a:prstGeom prst="roundRect">
            <a:avLst>
              <a:gd name="adj" fmla="val 11429"/>
            </a:avLst>
          </a:prstGeom>
          <a:solidFill>
            <a:srgbClr val="403016"/>
          </a:solidFill>
          <a:ln w="15240">
            <a:solidFill>
              <a:srgbClr val="FFB86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F8FB"/>
                </a:solidFill>
              </a:rPr>
              <a:t>MODIFIED</a:t>
            </a:r>
            <a:endParaRPr lang="en-US" sz="1600" dirty="0"/>
          </a:p>
        </p:txBody>
      </p:sp>
      <p:sp>
        <p:nvSpPr>
          <p:cNvPr id="43" name="Text 19">
            <a:extLst>
              <a:ext uri="{FF2B5EF4-FFF2-40B4-BE49-F238E27FC236}">
                <a16:creationId xmlns:a16="http://schemas.microsoft.com/office/drawing/2014/main" id="{B8FEDAFF-F57E-CA7B-270A-CCDF4CE65749}"/>
              </a:ext>
            </a:extLst>
          </p:cNvPr>
          <p:cNvSpPr/>
          <p:nvPr/>
        </p:nvSpPr>
        <p:spPr>
          <a:xfrm>
            <a:off x="416560" y="2263924"/>
            <a:ext cx="2148840" cy="640080"/>
          </a:xfrm>
          <a:prstGeom prst="roundRect">
            <a:avLst>
              <a:gd name="adj" fmla="val 11429"/>
            </a:avLst>
          </a:prstGeom>
          <a:solidFill>
            <a:srgbClr val="182337"/>
          </a:solidFill>
          <a:ln w="15240">
            <a:solidFill>
              <a:srgbClr val="41516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/>
            <a:r>
              <a:rPr lang="en-US" sz="1200" b="1">
                <a:solidFill>
                  <a:srgbClr val="F7F8FB"/>
                </a:solidFill>
              </a:rPr>
              <a:t>Add </a:t>
            </a:r>
            <a:r>
              <a:rPr lang="en-US" sz="1200" b="1" err="1">
                <a:solidFill>
                  <a:srgbClr val="F7F8FB"/>
                </a:solidFill>
              </a:rPr>
              <a:t>LeaderBoard</a:t>
            </a:r>
            <a:r>
              <a:rPr lang="en-US" sz="1200" b="1">
                <a:solidFill>
                  <a:srgbClr val="F7F8FB"/>
                </a:solidFill>
              </a:rPr>
              <a:t> Class with </a:t>
            </a:r>
            <a:r>
              <a:rPr lang="en-US" sz="1200" b="1" err="1">
                <a:solidFill>
                  <a:srgbClr val="F7F8FB"/>
                </a:solidFill>
              </a:rPr>
              <a:t>Unorderd</a:t>
            </a:r>
            <a:r>
              <a:rPr lang="en-US" sz="1200" b="1">
                <a:solidFill>
                  <a:srgbClr val="F7F8FB"/>
                </a:solidFill>
              </a:rPr>
              <a:t> Map </a:t>
            </a:r>
            <a:r>
              <a:rPr lang="en-US" sz="1200" b="1" err="1">
                <a:solidFill>
                  <a:srgbClr val="F7F8FB"/>
                </a:solidFill>
              </a:rPr>
              <a:t>stl</a:t>
            </a:r>
            <a:r>
              <a:rPr lang="en-US" sz="1200" b="1">
                <a:solidFill>
                  <a:srgbClr val="F7F8FB"/>
                </a:solidFill>
              </a:rPr>
              <a:t> container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BCED9B7F-D6FA-3C93-233A-A99486880D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0993" y="90679"/>
            <a:ext cx="6432708" cy="6597649"/>
          </a:xfrm>
          <a:prstGeom prst="rect">
            <a:avLst/>
          </a:pr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1FBF0A6F-D6DA-3D7D-737E-0ABB22C3828B}"/>
              </a:ext>
            </a:extLst>
          </p:cNvPr>
          <p:cNvSpPr/>
          <p:nvPr/>
        </p:nvSpPr>
        <p:spPr>
          <a:xfrm>
            <a:off x="6850856" y="3570456"/>
            <a:ext cx="4026694" cy="20064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8" name="Text 15">
            <a:extLst>
              <a:ext uri="{FF2B5EF4-FFF2-40B4-BE49-F238E27FC236}">
                <a16:creationId xmlns:a16="http://schemas.microsoft.com/office/drawing/2014/main" id="{75D2B8B1-81D4-3B43-6869-89FC9442D3B6}"/>
              </a:ext>
            </a:extLst>
          </p:cNvPr>
          <p:cNvSpPr/>
          <p:nvPr/>
        </p:nvSpPr>
        <p:spPr>
          <a:xfrm>
            <a:off x="3948177" y="650544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B9C4D1"/>
                </a:solidFill>
              </a:rPr>
              <a:t>Quiz Arena | OOP C++ Final Project | </a:t>
            </a:r>
            <a:r>
              <a:rPr lang="he-IL" sz="750" dirty="0">
                <a:solidFill>
                  <a:srgbClr val="B9C4D1"/>
                </a:solidFill>
              </a:rPr>
              <a:t>10</a:t>
            </a:r>
            <a:endParaRPr lang="en-US" sz="750" dirty="0"/>
          </a:p>
        </p:txBody>
      </p:sp>
      <p:sp>
        <p:nvSpPr>
          <p:cNvPr id="50" name="Text 15">
            <a:extLst>
              <a:ext uri="{FF2B5EF4-FFF2-40B4-BE49-F238E27FC236}">
                <a16:creationId xmlns:a16="http://schemas.microsoft.com/office/drawing/2014/main" id="{D62510AD-EFAD-6790-53D5-A6B9EB309166}"/>
              </a:ext>
            </a:extLst>
          </p:cNvPr>
          <p:cNvSpPr/>
          <p:nvPr/>
        </p:nvSpPr>
        <p:spPr>
          <a:xfrm>
            <a:off x="633730" y="4445116"/>
            <a:ext cx="4359403" cy="1714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350" dirty="0">
                <a:solidFill>
                  <a:srgbClr val="F7F8FB"/>
                </a:solidFill>
              </a:rPr>
              <a:t>Cursor initially suggested vector&lt;</a:t>
            </a:r>
            <a:r>
              <a:rPr lang="en-US" sz="1350" dirty="0" err="1">
                <a:solidFill>
                  <a:srgbClr val="F7F8FB"/>
                </a:solidFill>
              </a:rPr>
              <a:t>LeaderboardEntry</a:t>
            </a:r>
            <a:r>
              <a:rPr lang="en-US" sz="1350" dirty="0">
                <a:solidFill>
                  <a:srgbClr val="F7F8FB"/>
                </a:solidFill>
              </a:rPr>
              <a:t>&gt;.</a:t>
            </a:r>
          </a:p>
          <a:p>
            <a:endParaRPr lang="en-US" sz="1350" dirty="0">
              <a:solidFill>
                <a:srgbClr val="F7F8FB"/>
              </a:solidFill>
            </a:endParaRPr>
          </a:p>
          <a:p>
            <a:r>
              <a:rPr lang="" sz="1400" dirty="0"/>
              <a:t>After discussion, we changed the design to unordered_map&lt;string, LeaderboardEntry&gt;, because leaderboard entries are searched and updated by player name.</a:t>
            </a:r>
          </a:p>
          <a:p>
            <a:endParaRPr lang="en-US" sz="1350" dirty="0">
              <a:solidFill>
                <a:srgbClr val="F7F8FB"/>
              </a:solidFill>
            </a:endParaRPr>
          </a:p>
          <a:p>
            <a:r>
              <a:rPr lang="en-US" sz="1350" dirty="0">
                <a:solidFill>
                  <a:srgbClr val="F7F8FB"/>
                </a:solidFill>
              </a:rPr>
              <a:t>We accepted Cursor's revised implementation.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3201155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85AC91FE-F1CA-79DC-F6B4-34C1B98A6B24}"/>
              </a:ext>
            </a:extLst>
          </p:cNvPr>
          <p:cNvSpPr/>
          <p:nvPr/>
        </p:nvSpPr>
        <p:spPr>
          <a:xfrm>
            <a:off x="236728" y="169672"/>
            <a:ext cx="542112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7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Agentic workflow: prompt log examples</a:t>
            </a:r>
            <a:endParaRPr lang="en-US" sz="25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D49AA00-997A-B904-FC08-488D060DB07B}"/>
              </a:ext>
            </a:extLst>
          </p:cNvPr>
          <p:cNvSpPr/>
          <p:nvPr/>
        </p:nvSpPr>
        <p:spPr>
          <a:xfrm>
            <a:off x="255016" y="645160"/>
            <a:ext cx="45836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9C4D1"/>
                </a:solidFill>
              </a:rPr>
              <a:t>We used Cursor suggestions critically: accepted, modified, </a:t>
            </a:r>
            <a:endParaRPr lang="he-IL" sz="1400" dirty="0">
              <a:solidFill>
                <a:srgbClr val="B9C4D1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B9C4D1"/>
                </a:solidFill>
              </a:rPr>
              <a:t>or rejected based on course rules.</a:t>
            </a:r>
            <a:endParaRPr lang="en-US" sz="1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EAC23541-C96D-CBBD-D0B4-2B19EFBDB749}"/>
              </a:ext>
            </a:extLst>
          </p:cNvPr>
          <p:cNvSpPr/>
          <p:nvPr/>
        </p:nvSpPr>
        <p:spPr>
          <a:xfrm>
            <a:off x="416560" y="1647190"/>
            <a:ext cx="2148840" cy="475488"/>
          </a:xfrm>
          <a:prstGeom prst="roundRect">
            <a:avLst>
              <a:gd name="adj" fmla="val 15385"/>
            </a:avLst>
          </a:prstGeom>
          <a:solidFill>
            <a:srgbClr val="1F2E44"/>
          </a:solidFill>
          <a:ln w="15240">
            <a:solidFill>
              <a:srgbClr val="FFB86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F8FB"/>
                </a:solidFill>
              </a:rPr>
              <a:t>Cursor suggested</a:t>
            </a:r>
            <a:endParaRPr lang="en-US" sz="14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FD532AC9-AAB7-75A1-AC23-43EB6BEE2621}"/>
              </a:ext>
            </a:extLst>
          </p:cNvPr>
          <p:cNvSpPr/>
          <p:nvPr/>
        </p:nvSpPr>
        <p:spPr>
          <a:xfrm>
            <a:off x="3296920" y="1647190"/>
            <a:ext cx="2148840" cy="475488"/>
          </a:xfrm>
          <a:prstGeom prst="roundRect">
            <a:avLst>
              <a:gd name="adj" fmla="val 15385"/>
            </a:avLst>
          </a:prstGeom>
          <a:solidFill>
            <a:srgbClr val="1F2E44"/>
          </a:solidFill>
          <a:ln w="15240">
            <a:solidFill>
              <a:srgbClr val="FFB86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F8FB"/>
                </a:solidFill>
              </a:rPr>
              <a:t>Our decision</a:t>
            </a:r>
            <a:endParaRPr lang="en-US" sz="14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419D0E3B-56AC-7661-E85F-ED0D557B0200}"/>
              </a:ext>
            </a:extLst>
          </p:cNvPr>
          <p:cNvSpPr/>
          <p:nvPr/>
        </p:nvSpPr>
        <p:spPr>
          <a:xfrm>
            <a:off x="633730" y="3781806"/>
            <a:ext cx="4434840" cy="475488"/>
          </a:xfrm>
          <a:prstGeom prst="roundRect">
            <a:avLst>
              <a:gd name="adj" fmla="val 15385"/>
            </a:avLst>
          </a:prstGeom>
          <a:solidFill>
            <a:srgbClr val="1F2E44"/>
          </a:solidFill>
          <a:ln w="15240">
            <a:solidFill>
              <a:srgbClr val="FFB86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>
                <a:solidFill>
                  <a:srgbClr val="F7F8FB"/>
                </a:solidFill>
              </a:rPr>
              <a:t>Reason</a:t>
            </a:r>
            <a:endParaRPr lang="he-IL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53AC53AC-5B08-8BBA-0471-94A2E42857FA}"/>
              </a:ext>
            </a:extLst>
          </p:cNvPr>
          <p:cNvSpPr/>
          <p:nvPr/>
        </p:nvSpPr>
        <p:spPr>
          <a:xfrm>
            <a:off x="2702560" y="2561590"/>
            <a:ext cx="438912" cy="0"/>
          </a:xfrm>
          <a:prstGeom prst="line">
            <a:avLst/>
          </a:prstGeom>
          <a:solidFill>
            <a:srgbClr val="0B1020">
              <a:alpha val="0"/>
            </a:srgbClr>
          </a:solidFill>
          <a:ln w="15240">
            <a:solidFill>
              <a:srgbClr val="41516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2DDCFA8B-0441-4471-4610-6D52C80C0632}"/>
              </a:ext>
            </a:extLst>
          </p:cNvPr>
          <p:cNvSpPr/>
          <p:nvPr/>
        </p:nvSpPr>
        <p:spPr>
          <a:xfrm flipH="1">
            <a:off x="2851150" y="3094989"/>
            <a:ext cx="6857" cy="475467"/>
          </a:xfrm>
          <a:prstGeom prst="line">
            <a:avLst/>
          </a:prstGeom>
          <a:solidFill>
            <a:srgbClr val="0B1020">
              <a:alpha val="0"/>
            </a:srgbClr>
          </a:solidFill>
          <a:ln w="15240">
            <a:solidFill>
              <a:srgbClr val="41516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7F3D25E-4709-205D-DE2E-D6885DE38EE8}"/>
              </a:ext>
            </a:extLst>
          </p:cNvPr>
          <p:cNvSpPr/>
          <p:nvPr/>
        </p:nvSpPr>
        <p:spPr>
          <a:xfrm>
            <a:off x="770890" y="4468644"/>
            <a:ext cx="4297680" cy="6111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he-IL" sz="1400">
                <a:ea typeface="+mn-lt"/>
                <a:cs typeface="+mn-lt"/>
              </a:rPr>
              <a:t>We asked cursor ,What additional question type would fit the game, he suggested True/ False. Its not complicated and help demonstrate better the implementaion of polymorphism.</a:t>
            </a:r>
            <a:endParaRPr lang="he-IL" sz="1400">
              <a:cs typeface="Arial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06F0393-9DFF-B2E8-4FF7-C347261CA4E7}"/>
              </a:ext>
            </a:extLst>
          </p:cNvPr>
          <p:cNvSpPr/>
          <p:nvPr/>
        </p:nvSpPr>
        <p:spPr>
          <a:xfrm>
            <a:off x="416560" y="2343956"/>
            <a:ext cx="2148840" cy="640080"/>
          </a:xfrm>
          <a:prstGeom prst="roundRect">
            <a:avLst>
              <a:gd name="adj" fmla="val 11429"/>
            </a:avLst>
          </a:prstGeom>
          <a:solidFill>
            <a:srgbClr val="182337"/>
          </a:solidFill>
          <a:ln w="15240">
            <a:solidFill>
              <a:srgbClr val="41516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/>
            <a:r>
              <a:rPr lang="en-US" sz="1200" b="1">
                <a:solidFill>
                  <a:srgbClr val="F7F8FB"/>
                </a:solidFill>
              </a:rPr>
              <a:t>Add </a:t>
            </a:r>
            <a:r>
              <a:rPr lang="en-US" sz="1200" b="1" err="1">
                <a:solidFill>
                  <a:srgbClr val="F7F8FB"/>
                </a:solidFill>
              </a:rPr>
              <a:t>TrueFalseQuestion</a:t>
            </a:r>
            <a:r>
              <a:rPr lang="en-US" sz="1200" b="1">
                <a:solidFill>
                  <a:srgbClr val="F7F8FB"/>
                </a:solidFill>
              </a:rPr>
              <a:t> class</a:t>
            </a:r>
            <a:endParaRPr lang="he-IL"/>
          </a:p>
        </p:txBody>
      </p:sp>
      <p:sp>
        <p:nvSpPr>
          <p:cNvPr id="25" name="Text 17">
            <a:extLst>
              <a:ext uri="{FF2B5EF4-FFF2-40B4-BE49-F238E27FC236}">
                <a16:creationId xmlns:a16="http://schemas.microsoft.com/office/drawing/2014/main" id="{20658E23-D51F-20A0-512F-C0280AE7155D}"/>
              </a:ext>
            </a:extLst>
          </p:cNvPr>
          <p:cNvSpPr/>
          <p:nvPr/>
        </p:nvSpPr>
        <p:spPr>
          <a:xfrm>
            <a:off x="3296920" y="2334028"/>
            <a:ext cx="2148840" cy="640080"/>
          </a:xfrm>
          <a:prstGeom prst="roundRect">
            <a:avLst>
              <a:gd name="adj" fmla="val 11429"/>
            </a:avLst>
          </a:prstGeom>
          <a:solidFill>
            <a:srgbClr val="10351F"/>
          </a:solidFill>
          <a:ln w="15240">
            <a:solidFill>
              <a:srgbClr val="7BD88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F8FB"/>
                </a:solidFill>
              </a:rPr>
              <a:t>ACCEPTED</a:t>
            </a:r>
            <a:endParaRPr lang="en-US" sz="16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5CF0F4D-EF6B-D4E5-8782-51865B52FE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7850" y="118110"/>
            <a:ext cx="6310827" cy="6621780"/>
          </a:xfrm>
          <a:prstGeom prst="rect">
            <a:avLst/>
          </a:prstGeom>
        </p:spPr>
      </p:pic>
      <p:sp>
        <p:nvSpPr>
          <p:cNvPr id="30" name="Text 15">
            <a:extLst>
              <a:ext uri="{FF2B5EF4-FFF2-40B4-BE49-F238E27FC236}">
                <a16:creationId xmlns:a16="http://schemas.microsoft.com/office/drawing/2014/main" id="{0BA9DA37-9366-9BD0-E9A3-BCD16486820A}"/>
              </a:ext>
            </a:extLst>
          </p:cNvPr>
          <p:cNvSpPr/>
          <p:nvPr/>
        </p:nvSpPr>
        <p:spPr>
          <a:xfrm>
            <a:off x="3951605" y="655701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B9C4D1"/>
                </a:solidFill>
              </a:rPr>
              <a:t>Quiz Arena | OOP C++ Final Project | </a:t>
            </a:r>
            <a:r>
              <a:rPr lang="he-IL" sz="750" dirty="0">
                <a:solidFill>
                  <a:srgbClr val="B9C4D1"/>
                </a:solidFill>
              </a:rPr>
              <a:t>11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234487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c326360-c2d4-49e8-869f-22842a32ddef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CDE2E39EB08043806489AFE8278BEA" ma:contentTypeVersion="6" ma:contentTypeDescription="Create a new document." ma:contentTypeScope="" ma:versionID="4969b5e9fe7db14ed7dbe2ed9e3d23f3">
  <xsd:schema xmlns:xsd="http://www.w3.org/2001/XMLSchema" xmlns:xs="http://www.w3.org/2001/XMLSchema" xmlns:p="http://schemas.microsoft.com/office/2006/metadata/properties" xmlns:ns3="dc326360-c2d4-49e8-869f-22842a32ddef" targetNamespace="http://schemas.microsoft.com/office/2006/metadata/properties" ma:root="true" ma:fieldsID="fcfe44127cbd787e8f5f1aa79a508a57" ns3:_="">
    <xsd:import namespace="dc326360-c2d4-49e8-869f-22842a32dde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DateTaken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326360-c2d4-49e8-869f-22842a32dde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924664C-6B27-4E2D-8542-F0E19F5EC5C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BF7960A-A15D-48BD-93F3-24E058A5E7CF}">
  <ds:schemaRefs>
    <ds:schemaRef ds:uri="http://purl.org/dc/elements/1.1/"/>
    <ds:schemaRef ds:uri="http://www.w3.org/XML/1998/namespace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dc326360-c2d4-49e8-869f-22842a32ddef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E2544F67-14EE-49DB-BD06-C16724A0EEB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c326360-c2d4-49e8-869f-22842a32dde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319</TotalTime>
  <Words>996</Words>
  <Application>Microsoft Office PowerPoint</Application>
  <PresentationFormat>Widescreen</PresentationFormat>
  <Paragraphs>200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Cascadia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מיכאל רודיק</dc:creator>
  <cp:lastModifiedBy>מיכאל רודיק</cp:lastModifiedBy>
  <cp:revision>9</cp:revision>
  <dcterms:created xsi:type="dcterms:W3CDTF">2026-08-04T09:25:33Z</dcterms:created>
  <dcterms:modified xsi:type="dcterms:W3CDTF">2026-08-07T14:56:17Z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0x01010045CDE2E39EB08043806489AFE8278BEA</vt:lpwstr>
  </property>
</Properties>
</file>