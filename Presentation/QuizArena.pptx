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01168" y="146304"/>
            <a:ext cx="91440" cy="1143000"/>
          </a:xfrm>
          <a:prstGeom prst="roundRect">
            <a:avLst>
              <a:gd name="adj" fmla="val 8000"/>
            </a:avLst>
          </a:prstGeom>
          <a:solidFill>
            <a:srgbClr val="032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05156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 i="0">
                <a:solidFill>
                  <a:srgbClr val="03284D"/>
                </a:solidFill>
                <a:latin typeface="Calibri"/>
              </a:rPr>
              <a:t>Quiz Arena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4980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34445F"/>
                </a:solidFill>
                <a:latin typeface="Calibri"/>
              </a:rPr>
              <a:t>C++ Object-Oriented Programming Final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07899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03284D"/>
                </a:solidFill>
                <a:latin typeface="Calibri"/>
              </a:rPr>
              <a:t>Text-based quiz game with saves, leaderboard, and polymorphic question types.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75720" y="274320"/>
            <a:ext cx="2697480" cy="713232"/>
          </a:xfrm>
          <a:prstGeom prst="roundRect">
            <a:avLst>
              <a:gd name="adj" fmla="val 8000"/>
            </a:avLst>
          </a:prstGeom>
          <a:solidFill>
            <a:srgbClr val="ECF6FF"/>
          </a:solidFill>
          <a:ln w="12700">
            <a:solidFill>
              <a:srgbClr val="C3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31168" y="438912"/>
            <a:ext cx="32918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03284D"/>
                </a:solidFill>
                <a:latin typeface="Segoe UI Symbol"/>
              </a:rPr>
              <a:t>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33504" y="365760"/>
            <a:ext cx="192024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05A6E"/>
                </a:solidFill>
                <a:latin typeface="Calibri"/>
              </a:rPr>
              <a:t>Prepared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33504" y="566928"/>
            <a:ext cx="1920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3284D"/>
                </a:solidFill>
                <a:latin typeface="Calibri"/>
              </a:rPr>
              <a:t>OOP Final Project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554480"/>
            <a:ext cx="4114800" cy="5349240"/>
          </a:xfrm>
          <a:prstGeom prst="roundRect">
            <a:avLst>
              <a:gd name="adj" fmla="val 8000"/>
            </a:avLst>
          </a:prstGeom>
          <a:solidFill>
            <a:srgbClr val="ECF6FF"/>
          </a:solidFill>
          <a:ln w="12700">
            <a:solidFill>
              <a:srgbClr val="C3C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78308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03284D"/>
                </a:solidFill>
                <a:latin typeface="Segoe UI Symbol"/>
              </a:rPr>
              <a:t>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83080"/>
            <a:ext cx="2926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03284D"/>
                </a:solidFill>
                <a:latin typeface="Calibri"/>
              </a:rPr>
              <a:t>Agenda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331720"/>
            <a:ext cx="3520440" cy="0"/>
          </a:xfrm>
          <a:prstGeom prst="line">
            <a:avLst/>
          </a:prstGeom>
          <a:ln w="12700">
            <a:solidFill>
              <a:srgbClr val="C3CD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731520" y="2560320"/>
            <a:ext cx="365760" cy="365760"/>
          </a:xfrm>
          <a:prstGeom prst="ellipse">
            <a:avLst/>
          </a:prstGeom>
          <a:solidFill>
            <a:srgbClr val="03284D"/>
          </a:solidFill>
          <a:ln>
            <a:solidFill>
              <a:srgbClr val="032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569464"/>
            <a:ext cx="36576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 Symbo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587752"/>
            <a:ext cx="2971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03284D"/>
                </a:solidFill>
                <a:latin typeface="Calibri"/>
              </a:rPr>
              <a:t>Project idea and rules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88720" y="3108960"/>
            <a:ext cx="2971800" cy="0"/>
          </a:xfrm>
          <a:prstGeom prst="line">
            <a:avLst/>
          </a:prstGeom>
          <a:ln w="10160">
            <a:solidFill>
              <a:srgbClr val="C3CD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31520" y="3200400"/>
            <a:ext cx="365760" cy="365760"/>
          </a:xfrm>
          <a:prstGeom prst="ellipse">
            <a:avLst/>
          </a:prstGeom>
          <a:solidFill>
            <a:srgbClr val="03284D"/>
          </a:solidFill>
          <a:ln>
            <a:solidFill>
              <a:srgbClr val="032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209544"/>
            <a:ext cx="36576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 Symbo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227832"/>
            <a:ext cx="2971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03284D"/>
                </a:solidFill>
                <a:latin typeface="Calibri"/>
              </a:rPr>
              <a:t>Question hierarchy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88720" y="3749039"/>
            <a:ext cx="2971800" cy="0"/>
          </a:xfrm>
          <a:prstGeom prst="line">
            <a:avLst/>
          </a:prstGeom>
          <a:ln w="10160">
            <a:solidFill>
              <a:srgbClr val="C3CD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731520" y="3840480"/>
            <a:ext cx="365760" cy="365760"/>
          </a:xfrm>
          <a:prstGeom prst="ellipse">
            <a:avLst/>
          </a:prstGeom>
          <a:solidFill>
            <a:srgbClr val="03284D"/>
          </a:solidFill>
          <a:ln>
            <a:solidFill>
              <a:srgbClr val="032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849624"/>
            <a:ext cx="36576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 Symbo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3867912"/>
            <a:ext cx="2971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03284D"/>
                </a:solidFill>
                <a:latin typeface="Calibri"/>
              </a:rPr>
              <a:t>Player and runtime state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88720" y="4389120"/>
            <a:ext cx="2971800" cy="0"/>
          </a:xfrm>
          <a:prstGeom prst="line">
            <a:avLst/>
          </a:prstGeom>
          <a:ln w="10160">
            <a:solidFill>
              <a:srgbClr val="C3CD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31520" y="4480560"/>
            <a:ext cx="365760" cy="365760"/>
          </a:xfrm>
          <a:prstGeom prst="ellipse">
            <a:avLst/>
          </a:prstGeom>
          <a:solidFill>
            <a:srgbClr val="03284D"/>
          </a:solidFill>
          <a:ln>
            <a:solidFill>
              <a:srgbClr val="032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89704"/>
            <a:ext cx="36576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 Symbo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507992"/>
            <a:ext cx="2971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03284D"/>
                </a:solidFill>
                <a:latin typeface="Calibri"/>
              </a:rPr>
              <a:t>Save system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88720" y="5029200"/>
            <a:ext cx="2971800" cy="0"/>
          </a:xfrm>
          <a:prstGeom prst="line">
            <a:avLst/>
          </a:prstGeom>
          <a:ln w="10160">
            <a:solidFill>
              <a:srgbClr val="C3CD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731520" y="5120640"/>
            <a:ext cx="365760" cy="365760"/>
          </a:xfrm>
          <a:prstGeom prst="ellipse">
            <a:avLst/>
          </a:prstGeom>
          <a:solidFill>
            <a:srgbClr val="03284D"/>
          </a:solidFill>
          <a:ln>
            <a:solidFill>
              <a:srgbClr val="032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129784"/>
            <a:ext cx="36576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 Symbo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5148072"/>
            <a:ext cx="2971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03284D"/>
                </a:solidFill>
                <a:latin typeface="Calibri"/>
              </a:rPr>
              <a:t>Leaderboard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188720" y="5669280"/>
            <a:ext cx="2971800" cy="0"/>
          </a:xfrm>
          <a:prstGeom prst="line">
            <a:avLst/>
          </a:prstGeom>
          <a:ln w="10160">
            <a:solidFill>
              <a:srgbClr val="C3CD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731520" y="5760720"/>
            <a:ext cx="365760" cy="365760"/>
          </a:xfrm>
          <a:prstGeom prst="ellipse">
            <a:avLst/>
          </a:prstGeom>
          <a:solidFill>
            <a:srgbClr val="03284D"/>
          </a:solidFill>
          <a:ln>
            <a:solidFill>
              <a:srgbClr val="032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769864"/>
            <a:ext cx="365760" cy="3566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 Symbo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5788152"/>
            <a:ext cx="29718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03284D"/>
                </a:solidFill>
                <a:latin typeface="Calibri"/>
              </a:rPr>
              <a:t>How everything connects in QuizGame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21040" y="2331720"/>
            <a:ext cx="0" cy="457200"/>
          </a:xfrm>
          <a:prstGeom prst="line">
            <a:avLst/>
          </a:prstGeom>
          <a:ln w="215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058400" y="3246120"/>
            <a:ext cx="1417320" cy="137160"/>
          </a:xfrm>
          <a:prstGeom prst="line">
            <a:avLst/>
          </a:prstGeom>
          <a:ln w="1651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058400" y="3931920"/>
            <a:ext cx="1417320" cy="320040"/>
          </a:xfrm>
          <a:prstGeom prst="line">
            <a:avLst/>
          </a:prstGeom>
          <a:ln w="1651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058400" y="4480560"/>
            <a:ext cx="1417320" cy="1097280"/>
          </a:xfrm>
          <a:prstGeom prst="line">
            <a:avLst/>
          </a:prstGeom>
          <a:ln w="1651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6858000" y="4892040"/>
            <a:ext cx="1463040" cy="1234440"/>
          </a:xfrm>
          <a:prstGeom prst="bentConnector3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321040" y="4892040"/>
            <a:ext cx="1463040" cy="1234440"/>
          </a:xfrm>
          <a:prstGeom prst="bentConnector3">
            <a:avLst/>
          </a:prstGeom>
          <a:ln w="1778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8247888" y="4882896"/>
            <a:ext cx="146304" cy="146304"/>
          </a:xfrm>
          <a:prstGeom prst="diamond">
            <a:avLst/>
          </a:prstGeom>
          <a:solidFill>
            <a:srgbClr val="03284D"/>
          </a:solidFill>
          <a:ln w="9525">
            <a:solidFill>
              <a:srgbClr val="0328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360920" y="1481328"/>
            <a:ext cx="1920240" cy="859536"/>
          </a:xfrm>
          <a:prstGeom prst="roundRect">
            <a:avLst>
              <a:gd name="adj" fmla="val 8000"/>
            </a:avLst>
          </a:prstGeom>
          <a:solidFill>
            <a:srgbClr val="F6EEFF"/>
          </a:solidFill>
          <a:ln w="17145">
            <a:solidFill>
              <a:srgbClr val="5F2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43800" y="1536192"/>
            <a:ext cx="4572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5F2F96"/>
                </a:solidFill>
                <a:latin typeface="Segoe UI Symbol"/>
              </a:rPr>
              <a:t>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55864" y="1536192"/>
            <a:ext cx="10789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5F2F96"/>
                </a:solidFill>
                <a:latin typeface="Calibri"/>
              </a:rPr>
              <a:t>main.cpp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525512" y="2011680"/>
            <a:ext cx="1591056" cy="0"/>
          </a:xfrm>
          <a:prstGeom prst="line">
            <a:avLst/>
          </a:prstGeom>
          <a:ln w="12700">
            <a:solidFill>
              <a:srgbClr val="5F2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562088" y="2084832"/>
            <a:ext cx="1517904" cy="2011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onsolas"/>
              </a:rPr>
              <a:t>int main()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83680" y="2788920"/>
            <a:ext cx="3474720" cy="2103120"/>
          </a:xfrm>
          <a:prstGeom prst="roundRect">
            <a:avLst>
              <a:gd name="adj" fmla="val 8000"/>
            </a:avLst>
          </a:prstGeom>
          <a:solidFill>
            <a:srgbClr val="ECF6FF"/>
          </a:solidFill>
          <a:ln w="17145">
            <a:solidFill>
              <a:srgbClr val="004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66560" y="2843784"/>
            <a:ext cx="4572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004C9E"/>
                </a:solidFill>
                <a:latin typeface="Segoe UI Symbol"/>
              </a:rPr>
              <a:t>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78624" y="2843784"/>
            <a:ext cx="263347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 i="0">
                <a:solidFill>
                  <a:srgbClr val="004C9E"/>
                </a:solidFill>
                <a:latin typeface="Calibri"/>
              </a:rPr>
              <a:t>QuizGame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748272" y="3319272"/>
            <a:ext cx="3145536" cy="0"/>
          </a:xfrm>
          <a:prstGeom prst="line">
            <a:avLst/>
          </a:prstGeom>
          <a:ln w="12700">
            <a:solidFill>
              <a:srgbClr val="004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784848" y="3392424"/>
            <a:ext cx="3072384" cy="14447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onsolas"/>
              </a:rPr>
              <a:t>run()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Consolas"/>
              </a:rPr>
              <a:t>vector&lt;Question*&gt; m_questions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Consolas"/>
              </a:rPr>
              <a:t>Player m_player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Consolas"/>
              </a:rPr>
              <a:t>Leaderboard m_leaderboard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Consolas"/>
              </a:rPr>
              <a:t>m_difficulty / m_targetScore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24160" y="3108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000000"/>
                </a:solidFill>
                <a:latin typeface="Calibri"/>
              </a:rPr>
              <a:t>uses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24160" y="384048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000000"/>
                </a:solidFill>
                <a:latin typeface="Calibri"/>
              </a:rPr>
              <a:t>uses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49840" y="47091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000000"/>
                </a:solidFill>
                <a:latin typeface="Calibri"/>
              </a:rPr>
              <a:t>uses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75720" y="2697480"/>
            <a:ext cx="2743200" cy="1188720"/>
          </a:xfrm>
          <a:prstGeom prst="roundRect">
            <a:avLst>
              <a:gd name="adj" fmla="val 8000"/>
            </a:avLst>
          </a:prstGeom>
          <a:solidFill>
            <a:srgbClr val="F0FAEC"/>
          </a:solidFill>
          <a:ln w="17145">
            <a:solidFill>
              <a:srgbClr val="256A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658600" y="2752344"/>
            <a:ext cx="4572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256A25"/>
                </a:solidFill>
                <a:latin typeface="Segoe UI Symbol"/>
              </a:rPr>
              <a:t>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170664" y="2752344"/>
            <a:ext cx="19019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256A25"/>
                </a:solidFill>
                <a:latin typeface="Calibri"/>
              </a:rPr>
              <a:t>Question (Hierarchy)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1640312" y="3227832"/>
            <a:ext cx="2414016" cy="0"/>
          </a:xfrm>
          <a:prstGeom prst="line">
            <a:avLst/>
          </a:prstGeom>
          <a:ln w="12700">
            <a:solidFill>
              <a:srgbClr val="256A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1676888" y="3300984"/>
            <a:ext cx="2340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Consolas"/>
              </a:rPr>
              <a:t>abstract base class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Consolas"/>
              </a:rPr>
              <a:t>MultipleChoiceQuestion /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Consolas"/>
              </a:rPr>
              <a:t>TrueFalseQuestion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1475720" y="4023360"/>
            <a:ext cx="2743200" cy="868680"/>
          </a:xfrm>
          <a:prstGeom prst="roundRect">
            <a:avLst>
              <a:gd name="adj" fmla="val 8000"/>
            </a:avLst>
          </a:prstGeom>
          <a:solidFill>
            <a:srgbClr val="F6EEFF"/>
          </a:solidFill>
          <a:ln w="17145">
            <a:solidFill>
              <a:srgbClr val="5F2F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658600" y="4078224"/>
            <a:ext cx="4572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5F2F96"/>
                </a:solidFill>
                <a:latin typeface="Segoe UI Symbol"/>
              </a:rPr>
              <a:t>▭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170664" y="4078224"/>
            <a:ext cx="19019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5F2F96"/>
                </a:solidFill>
                <a:latin typeface="Calibri"/>
              </a:rPr>
              <a:t>ConsoleUI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1640312" y="4553712"/>
            <a:ext cx="2414016" cy="0"/>
          </a:xfrm>
          <a:prstGeom prst="line">
            <a:avLst/>
          </a:prstGeom>
          <a:ln w="12700">
            <a:solidFill>
              <a:srgbClr val="5F2F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1676888" y="4626864"/>
            <a:ext cx="2340864" cy="2103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onsolas"/>
              </a:rPr>
              <a:t>all input / output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75720" y="5074920"/>
            <a:ext cx="2743200" cy="1097280"/>
          </a:xfrm>
          <a:prstGeom prst="roundRect">
            <a:avLst>
              <a:gd name="adj" fmla="val 8000"/>
            </a:avLst>
          </a:prstGeom>
          <a:solidFill>
            <a:srgbClr val="FFF2E7"/>
          </a:solidFill>
          <a:ln w="17145">
            <a:solidFill>
              <a:srgbClr val="CD40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658600" y="5129783"/>
            <a:ext cx="4572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CD400F"/>
                </a:solidFill>
                <a:latin typeface="Segoe UI Symbol"/>
              </a:rPr>
              <a:t>▣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70664" y="5129783"/>
            <a:ext cx="19019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CD400F"/>
                </a:solidFill>
                <a:latin typeface="Calibri"/>
              </a:rPr>
              <a:t>SaveManager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1640312" y="5605272"/>
            <a:ext cx="2414016" cy="0"/>
          </a:xfrm>
          <a:prstGeom prst="line">
            <a:avLst/>
          </a:prstGeom>
          <a:ln w="12700">
            <a:solidFill>
              <a:srgbClr val="CD40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1676888" y="5678424"/>
            <a:ext cx="2340864" cy="4389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onsolas"/>
              </a:rPr>
              <a:t>save / load game data</a:t>
            </a:r>
          </a:p>
          <a:p>
            <a:pPr algn="l"/>
            <a:r>
              <a:rPr sz="1100" b="0" i="0">
                <a:solidFill>
                  <a:srgbClr val="000000"/>
                </a:solidFill>
                <a:latin typeface="Consolas"/>
              </a:rPr>
              <a:t>(slots, progress, state)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806440" y="6126480"/>
            <a:ext cx="2103120" cy="1051560"/>
          </a:xfrm>
          <a:prstGeom prst="roundRect">
            <a:avLst>
              <a:gd name="adj" fmla="val 8000"/>
            </a:avLst>
          </a:prstGeom>
          <a:solidFill>
            <a:srgbClr val="E8FAFA"/>
          </a:solidFill>
          <a:ln w="17145">
            <a:solidFill>
              <a:srgbClr val="007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89320" y="6181344"/>
            <a:ext cx="4572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007E80"/>
                </a:solidFill>
                <a:latin typeface="Segoe UI Symbol"/>
              </a:rPr>
              <a:t>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01383" y="6181344"/>
            <a:ext cx="126187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07E80"/>
                </a:solidFill>
                <a:latin typeface="Calibri"/>
              </a:rPr>
              <a:t>Player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5971031" y="6656832"/>
            <a:ext cx="1773936" cy="0"/>
          </a:xfrm>
          <a:prstGeom prst="line">
            <a:avLst/>
          </a:prstGeom>
          <a:ln w="12700">
            <a:solidFill>
              <a:srgbClr val="007E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6007607" y="6729984"/>
            <a:ext cx="1700784" cy="3931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Consolas"/>
              </a:rPr>
              <a:t>m_name, m_score, m_lives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Consolas"/>
              </a:rPr>
              <a:t>current state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03720" y="5870448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732520" y="6126480"/>
            <a:ext cx="2103120" cy="1051560"/>
          </a:xfrm>
          <a:prstGeom prst="roundRect">
            <a:avLst>
              <a:gd name="adj" fmla="val 8000"/>
            </a:avLst>
          </a:prstGeom>
          <a:solidFill>
            <a:srgbClr val="ECF6FF"/>
          </a:solidFill>
          <a:ln w="17145">
            <a:solidFill>
              <a:srgbClr val="004C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915400" y="6181344"/>
            <a:ext cx="4572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004C9E"/>
                </a:solidFill>
                <a:latin typeface="Segoe UI Symbol"/>
              </a:rPr>
              <a:t>♜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27464" y="6181344"/>
            <a:ext cx="126187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04C9E"/>
                </a:solidFill>
                <a:latin typeface="Calibri"/>
              </a:rPr>
              <a:t>Leaderboard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8897112" y="6656832"/>
            <a:ext cx="1773936" cy="0"/>
          </a:xfrm>
          <a:prstGeom prst="line">
            <a:avLst/>
          </a:prstGeom>
          <a:ln w="12700">
            <a:solidFill>
              <a:srgbClr val="004C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8933688" y="6729984"/>
            <a:ext cx="1700784" cy="3931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Consolas"/>
              </a:rPr>
              <a:t>unordered_map scores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Consolas"/>
              </a:rPr>
              <a:t>top scores by mode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692640" y="5870448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0" y="7543800"/>
            <a:ext cx="14630400" cy="685800"/>
          </a:xfrm>
          <a:prstGeom prst="rect">
            <a:avLst/>
          </a:prstGeom>
          <a:solidFill>
            <a:srgbClr val="0328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624560" y="7644383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2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